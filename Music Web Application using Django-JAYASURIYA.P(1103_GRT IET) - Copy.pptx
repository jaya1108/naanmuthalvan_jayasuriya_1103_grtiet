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9144000" cy="5143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3456" autoAdjust="0"/>
    <p:restoredTop sz="94660"/>
  </p:normalViewPr>
  <p:slideViewPr>
    <p:cSldViewPr>
      <p:cViewPr>
        <p:scale>
          <a:sx n="95" d="100"/>
          <a:sy n="95" d="100"/>
        </p:scale>
        <p:origin x="-750" y="2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4/8/2024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4/8/2024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4/8/2024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839075" y="123825"/>
            <a:ext cx="1143000" cy="342900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7591425" y="85725"/>
            <a:ext cx="171450" cy="409575"/>
          </a:xfrm>
          <a:custGeom>
            <a:avLst/>
            <a:gdLst/>
            <a:ahLst/>
            <a:cxnLst/>
            <a:rect l="l" t="t" r="r" b="b"/>
            <a:pathLst>
              <a:path w="171450" h="409575">
                <a:moveTo>
                  <a:pt x="171450" y="0"/>
                </a:moveTo>
                <a:lnTo>
                  <a:pt x="0" y="0"/>
                </a:lnTo>
                <a:lnTo>
                  <a:pt x="0" y="409575"/>
                </a:lnTo>
                <a:lnTo>
                  <a:pt x="171450" y="409575"/>
                </a:lnTo>
                <a:lnTo>
                  <a:pt x="171450" y="0"/>
                </a:lnTo>
                <a:close/>
              </a:path>
            </a:pathLst>
          </a:custGeom>
          <a:solidFill>
            <a:srgbClr val="84180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7439025" y="85725"/>
            <a:ext cx="104775" cy="409575"/>
          </a:xfrm>
          <a:custGeom>
            <a:avLst/>
            <a:gdLst/>
            <a:ahLst/>
            <a:cxnLst/>
            <a:rect l="l" t="t" r="r" b="b"/>
            <a:pathLst>
              <a:path w="104775" h="409575">
                <a:moveTo>
                  <a:pt x="104775" y="0"/>
                </a:moveTo>
                <a:lnTo>
                  <a:pt x="0" y="0"/>
                </a:lnTo>
                <a:lnTo>
                  <a:pt x="0" y="409575"/>
                </a:lnTo>
                <a:lnTo>
                  <a:pt x="104775" y="409575"/>
                </a:lnTo>
                <a:lnTo>
                  <a:pt x="104775" y="0"/>
                </a:lnTo>
                <a:close/>
              </a:path>
            </a:pathLst>
          </a:custGeom>
          <a:solidFill>
            <a:srgbClr val="2031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5086350"/>
            <a:ext cx="9144000" cy="57150"/>
          </a:xfrm>
          <a:custGeom>
            <a:avLst/>
            <a:gdLst/>
            <a:ahLst/>
            <a:cxnLst/>
            <a:rect l="l" t="t" r="r" b="b"/>
            <a:pathLst>
              <a:path w="9144000" h="57150">
                <a:moveTo>
                  <a:pt x="9144000" y="0"/>
                </a:moveTo>
                <a:lnTo>
                  <a:pt x="0" y="0"/>
                </a:lnTo>
                <a:lnTo>
                  <a:pt x="0" y="57148"/>
                </a:lnTo>
                <a:lnTo>
                  <a:pt x="9144000" y="57148"/>
                </a:lnTo>
                <a:lnTo>
                  <a:pt x="9144000" y="0"/>
                </a:lnTo>
                <a:close/>
              </a:path>
            </a:pathLst>
          </a:custGeom>
          <a:solidFill>
            <a:srgbClr val="2031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4763" y="90551"/>
            <a:ext cx="7286625" cy="409575"/>
          </a:xfrm>
          <a:custGeom>
            <a:avLst/>
            <a:gdLst/>
            <a:ahLst/>
            <a:cxnLst/>
            <a:rect l="l" t="t" r="r" b="b"/>
            <a:pathLst>
              <a:path w="7286625" h="409575">
                <a:moveTo>
                  <a:pt x="7286625" y="0"/>
                </a:moveTo>
                <a:lnTo>
                  <a:pt x="0" y="0"/>
                </a:lnTo>
                <a:lnTo>
                  <a:pt x="0" y="409575"/>
                </a:lnTo>
                <a:lnTo>
                  <a:pt x="7286625" y="409575"/>
                </a:lnTo>
                <a:lnTo>
                  <a:pt x="7286625" y="0"/>
                </a:lnTo>
                <a:close/>
              </a:path>
            </a:pathLst>
          </a:custGeom>
          <a:solidFill>
            <a:srgbClr val="20316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763" y="90551"/>
            <a:ext cx="7286625" cy="409575"/>
          </a:xfrm>
          <a:custGeom>
            <a:avLst/>
            <a:gdLst/>
            <a:ahLst/>
            <a:cxnLst/>
            <a:rect l="l" t="t" r="r" b="b"/>
            <a:pathLst>
              <a:path w="7286625" h="409575">
                <a:moveTo>
                  <a:pt x="0" y="409575"/>
                </a:moveTo>
                <a:lnTo>
                  <a:pt x="7286625" y="409575"/>
                </a:lnTo>
                <a:lnTo>
                  <a:pt x="7286625" y="0"/>
                </a:lnTo>
                <a:lnTo>
                  <a:pt x="0" y="0"/>
                </a:lnTo>
                <a:lnTo>
                  <a:pt x="0" y="409575"/>
                </a:lnTo>
                <a:close/>
              </a:path>
            </a:pathLst>
          </a:custGeom>
          <a:ln w="25400">
            <a:solidFill>
              <a:srgbClr val="20316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7463" y="129857"/>
            <a:ext cx="7261225" cy="3003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200" y="1183005"/>
            <a:ext cx="822960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4/8/2024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51435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1871726" y="738187"/>
              <a:ext cx="6296025" cy="3962400"/>
            </a:xfrm>
            <a:custGeom>
              <a:avLst/>
              <a:gdLst/>
              <a:ahLst/>
              <a:cxnLst/>
              <a:rect l="l" t="t" r="r" b="b"/>
              <a:pathLst>
                <a:path w="6296025" h="3962400">
                  <a:moveTo>
                    <a:pt x="6296025" y="0"/>
                  </a:moveTo>
                  <a:lnTo>
                    <a:pt x="0" y="0"/>
                  </a:lnTo>
                  <a:lnTo>
                    <a:pt x="0" y="3962400"/>
                  </a:lnTo>
                  <a:lnTo>
                    <a:pt x="6296025" y="3962400"/>
                  </a:lnTo>
                  <a:lnTo>
                    <a:pt x="6296025" y="0"/>
                  </a:lnTo>
                  <a:close/>
                </a:path>
              </a:pathLst>
            </a:custGeom>
            <a:solidFill>
              <a:srgbClr val="20306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1871726" y="738187"/>
              <a:ext cx="6296025" cy="3962400"/>
            </a:xfrm>
            <a:custGeom>
              <a:avLst/>
              <a:gdLst/>
              <a:ahLst/>
              <a:cxnLst/>
              <a:rect l="l" t="t" r="r" b="b"/>
              <a:pathLst>
                <a:path w="6296025" h="3962400">
                  <a:moveTo>
                    <a:pt x="0" y="3962400"/>
                  </a:moveTo>
                  <a:lnTo>
                    <a:pt x="6296025" y="3962400"/>
                  </a:lnTo>
                  <a:lnTo>
                    <a:pt x="6296025" y="0"/>
                  </a:lnTo>
                  <a:lnTo>
                    <a:pt x="0" y="0"/>
                  </a:lnTo>
                  <a:lnTo>
                    <a:pt x="0" y="3962400"/>
                  </a:lnTo>
                  <a:close/>
                </a:path>
              </a:pathLst>
            </a:custGeom>
            <a:ln w="25400">
              <a:solidFill>
                <a:srgbClr val="203062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85750" y="438115"/>
              <a:ext cx="8386826" cy="4691126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995362" y="1062037"/>
              <a:ext cx="6981825" cy="3457575"/>
            </a:xfrm>
            <a:custGeom>
              <a:avLst/>
              <a:gdLst/>
              <a:ahLst/>
              <a:cxnLst/>
              <a:rect l="l" t="t" r="r" b="b"/>
              <a:pathLst>
                <a:path w="6981825" h="3457575">
                  <a:moveTo>
                    <a:pt x="6981825" y="0"/>
                  </a:moveTo>
                  <a:lnTo>
                    <a:pt x="0" y="0"/>
                  </a:lnTo>
                  <a:lnTo>
                    <a:pt x="0" y="3457575"/>
                  </a:lnTo>
                  <a:lnTo>
                    <a:pt x="6981825" y="3457575"/>
                  </a:lnTo>
                  <a:lnTo>
                    <a:pt x="6981825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995362" y="1062037"/>
              <a:ext cx="6981825" cy="3457575"/>
            </a:xfrm>
            <a:custGeom>
              <a:avLst/>
              <a:gdLst/>
              <a:ahLst/>
              <a:cxnLst/>
              <a:rect l="l" t="t" r="r" b="b"/>
              <a:pathLst>
                <a:path w="6981825" h="3457575">
                  <a:moveTo>
                    <a:pt x="0" y="3457575"/>
                  </a:moveTo>
                  <a:lnTo>
                    <a:pt x="6981825" y="3457575"/>
                  </a:lnTo>
                  <a:lnTo>
                    <a:pt x="6981825" y="0"/>
                  </a:lnTo>
                  <a:lnTo>
                    <a:pt x="0" y="0"/>
                  </a:lnTo>
                  <a:lnTo>
                    <a:pt x="0" y="3457575"/>
                  </a:lnTo>
                  <a:close/>
                </a:path>
              </a:pathLst>
            </a:custGeom>
            <a:ln w="25400">
              <a:solidFill>
                <a:srgbClr val="FFFFF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490851" y="2795651"/>
              <a:ext cx="57150" cy="447675"/>
            </a:xfrm>
            <a:custGeom>
              <a:avLst/>
              <a:gdLst/>
              <a:ahLst/>
              <a:cxnLst/>
              <a:rect l="l" t="t" r="r" b="b"/>
              <a:pathLst>
                <a:path w="57150" h="447675">
                  <a:moveTo>
                    <a:pt x="57150" y="0"/>
                  </a:moveTo>
                  <a:lnTo>
                    <a:pt x="0" y="0"/>
                  </a:lnTo>
                  <a:lnTo>
                    <a:pt x="0" y="447675"/>
                  </a:lnTo>
                  <a:lnTo>
                    <a:pt x="57150" y="447675"/>
                  </a:lnTo>
                  <a:lnTo>
                    <a:pt x="57150" y="0"/>
                  </a:lnTo>
                  <a:close/>
                </a:path>
              </a:pathLst>
            </a:custGeom>
            <a:solidFill>
              <a:srgbClr val="FFE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490851" y="2795651"/>
              <a:ext cx="57150" cy="447675"/>
            </a:xfrm>
            <a:custGeom>
              <a:avLst/>
              <a:gdLst/>
              <a:ahLst/>
              <a:cxnLst/>
              <a:rect l="l" t="t" r="r" b="b"/>
              <a:pathLst>
                <a:path w="57150" h="447675">
                  <a:moveTo>
                    <a:pt x="0" y="447675"/>
                  </a:moveTo>
                  <a:lnTo>
                    <a:pt x="57150" y="447675"/>
                  </a:lnTo>
                  <a:lnTo>
                    <a:pt x="57150" y="0"/>
                  </a:lnTo>
                  <a:lnTo>
                    <a:pt x="0" y="0"/>
                  </a:lnTo>
                  <a:lnTo>
                    <a:pt x="0" y="447675"/>
                  </a:lnTo>
                  <a:close/>
                </a:path>
              </a:pathLst>
            </a:custGeom>
            <a:ln w="25400">
              <a:solidFill>
                <a:srgbClr val="FFE6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2123185" y="2276157"/>
            <a:ext cx="4871085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2000" b="1" dirty="0">
                <a:solidFill>
                  <a:srgbClr val="161D22"/>
                </a:solidFill>
                <a:latin typeface="Arial"/>
                <a:cs typeface="Arial"/>
              </a:rPr>
              <a:t>NEXT</a:t>
            </a:r>
            <a:r>
              <a:rPr sz="2000" b="1" spc="20" dirty="0">
                <a:solidFill>
                  <a:srgbClr val="161D22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161D22"/>
                </a:solidFill>
                <a:latin typeface="Arial"/>
                <a:cs typeface="Arial"/>
              </a:rPr>
              <a:t>GEN</a:t>
            </a:r>
            <a:r>
              <a:rPr sz="2000" b="1" spc="25" dirty="0">
                <a:solidFill>
                  <a:srgbClr val="161D22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161D22"/>
                </a:solidFill>
                <a:latin typeface="Arial"/>
                <a:cs typeface="Arial"/>
              </a:rPr>
              <a:t>EMPLOYABILITY</a:t>
            </a:r>
            <a:r>
              <a:rPr sz="2000" b="1" spc="-114" dirty="0">
                <a:solidFill>
                  <a:srgbClr val="161D22"/>
                </a:solidFill>
                <a:latin typeface="Arial"/>
                <a:cs typeface="Arial"/>
              </a:rPr>
              <a:t> </a:t>
            </a:r>
            <a:r>
              <a:rPr sz="2000" b="1" spc="-10" dirty="0">
                <a:solidFill>
                  <a:srgbClr val="161D22"/>
                </a:solidFill>
                <a:latin typeface="Arial"/>
                <a:cs typeface="Arial"/>
              </a:rPr>
              <a:t>PROGRAM</a:t>
            </a:r>
            <a:endParaRPr sz="20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635250" y="2824797"/>
            <a:ext cx="3806190" cy="3346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25"/>
              </a:spcBef>
            </a:pPr>
            <a:r>
              <a:rPr sz="2000" dirty="0">
                <a:solidFill>
                  <a:srgbClr val="161D22"/>
                </a:solidFill>
                <a:latin typeface="Arial"/>
                <a:cs typeface="Arial"/>
              </a:rPr>
              <a:t>Creating</a:t>
            </a:r>
            <a:r>
              <a:rPr sz="2000" spc="-135" dirty="0">
                <a:solidFill>
                  <a:srgbClr val="161D2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61D22"/>
                </a:solidFill>
                <a:latin typeface="Arial"/>
                <a:cs typeface="Arial"/>
              </a:rPr>
              <a:t>a</a:t>
            </a:r>
            <a:r>
              <a:rPr sz="2000" spc="45" dirty="0">
                <a:solidFill>
                  <a:srgbClr val="161D22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161D22"/>
                </a:solidFill>
                <a:latin typeface="Arial"/>
                <a:cs typeface="Arial"/>
              </a:rPr>
              <a:t>future-ready</a:t>
            </a:r>
            <a:r>
              <a:rPr sz="2000" spc="-90" dirty="0">
                <a:solidFill>
                  <a:srgbClr val="161D22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161D22"/>
                </a:solidFill>
                <a:latin typeface="Arial"/>
                <a:cs typeface="Arial"/>
              </a:rPr>
              <a:t>workforce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43000" y="3409950"/>
            <a:ext cx="2590800" cy="109004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50000"/>
              </a:lnSpc>
              <a:spcBef>
                <a:spcPts val="100"/>
              </a:spcBef>
            </a:pPr>
            <a:r>
              <a:rPr lang="en-US" sz="1200" dirty="0" smtClean="0">
                <a:latin typeface="Arial"/>
                <a:cs typeface="Arial"/>
              </a:rPr>
              <a:t>Student Name: </a:t>
            </a:r>
            <a:r>
              <a:rPr lang="en-US" sz="1200" dirty="0" err="1" smtClean="0">
                <a:latin typeface="Arial"/>
                <a:cs typeface="Arial"/>
              </a:rPr>
              <a:t>P.Jayasuriya</a:t>
            </a:r>
            <a:endParaRPr lang="en-US" sz="1200" dirty="0">
              <a:latin typeface="Arial"/>
              <a:cs typeface="Arial"/>
            </a:endParaRPr>
          </a:p>
          <a:p>
            <a:pPr>
              <a:lnSpc>
                <a:spcPct val="150000"/>
              </a:lnSpc>
              <a:spcBef>
                <a:spcPts val="100"/>
              </a:spcBef>
            </a:pPr>
            <a:r>
              <a:rPr sz="1100" spc="-10" smtClean="0">
                <a:latin typeface="Arial"/>
                <a:cs typeface="Arial"/>
              </a:rPr>
              <a:t>Student</a:t>
            </a:r>
            <a:r>
              <a:rPr sz="1100" spc="-25" smtClean="0">
                <a:latin typeface="Arial"/>
                <a:cs typeface="Arial"/>
              </a:rPr>
              <a:t> </a:t>
            </a:r>
            <a:r>
              <a:rPr lang="en-US" sz="1100" spc="-25" dirty="0" err="1" smtClean="0">
                <a:latin typeface="Arial"/>
                <a:cs typeface="Arial"/>
              </a:rPr>
              <a:t>Reg</a:t>
            </a:r>
            <a:r>
              <a:rPr sz="1100" spc="40" smtClean="0">
                <a:latin typeface="Arial"/>
                <a:cs typeface="Arial"/>
              </a:rPr>
              <a:t> </a:t>
            </a:r>
            <a:r>
              <a:rPr lang="en-US" sz="1100" spc="40" dirty="0" smtClean="0">
                <a:latin typeface="Arial"/>
                <a:cs typeface="Arial"/>
              </a:rPr>
              <a:t>_No</a:t>
            </a:r>
            <a:r>
              <a:rPr sz="1100" spc="-30" smtClean="0">
                <a:latin typeface="Arial"/>
                <a:cs typeface="Arial"/>
              </a:rPr>
              <a:t>:</a:t>
            </a:r>
            <a:r>
              <a:rPr lang="en-US" sz="1100" spc="-30" dirty="0" smtClean="0">
                <a:latin typeface="Arial"/>
                <a:cs typeface="Arial"/>
              </a:rPr>
              <a:t> </a:t>
            </a:r>
            <a:r>
              <a:rPr lang="en-US" sz="1100" spc="-30" dirty="0" smtClean="0">
                <a:latin typeface="Arial"/>
                <a:cs typeface="Arial"/>
              </a:rPr>
              <a:t>110321104020</a:t>
            </a:r>
            <a:r>
              <a:rPr sz="1100" spc="-30" smtClean="0">
                <a:latin typeface="Arial"/>
                <a:cs typeface="Arial"/>
              </a:rPr>
              <a:t> </a:t>
            </a:r>
            <a:endParaRPr lang="en-US" sz="1100" spc="-30" dirty="0" smtClean="0">
              <a:latin typeface="Arial"/>
              <a:cs typeface="Arial"/>
            </a:endParaRPr>
          </a:p>
          <a:p>
            <a:pPr>
              <a:lnSpc>
                <a:spcPct val="150000"/>
              </a:lnSpc>
              <a:spcBef>
                <a:spcPts val="100"/>
              </a:spcBef>
            </a:pPr>
            <a:r>
              <a:rPr sz="1100" spc="-10" smtClean="0">
                <a:latin typeface="Arial"/>
                <a:cs typeface="Arial"/>
              </a:rPr>
              <a:t>Student</a:t>
            </a:r>
            <a:r>
              <a:rPr sz="1100" spc="-45" smtClean="0">
                <a:latin typeface="Arial"/>
                <a:cs typeface="Arial"/>
              </a:rPr>
              <a:t> </a:t>
            </a:r>
            <a:r>
              <a:rPr sz="1100">
                <a:latin typeface="Arial"/>
                <a:cs typeface="Arial"/>
              </a:rPr>
              <a:t>ID</a:t>
            </a:r>
            <a:r>
              <a:rPr sz="1100" spc="40">
                <a:latin typeface="Arial"/>
                <a:cs typeface="Arial"/>
              </a:rPr>
              <a:t> </a:t>
            </a:r>
            <a:r>
              <a:rPr sz="1100" spc="-10" smtClean="0">
                <a:latin typeface="Arial"/>
                <a:cs typeface="Arial"/>
              </a:rPr>
              <a:t>:</a:t>
            </a:r>
            <a:r>
              <a:rPr lang="en-US" sz="1100" spc="-10" dirty="0" smtClean="0">
                <a:latin typeface="Arial"/>
                <a:cs typeface="Arial"/>
              </a:rPr>
              <a:t> </a:t>
            </a:r>
            <a:r>
              <a:rPr sz="1100" spc="-10" smtClean="0">
                <a:latin typeface="Arial"/>
                <a:cs typeface="Arial"/>
              </a:rPr>
              <a:t>au110321104020</a:t>
            </a:r>
            <a:endParaRPr lang="en-US" sz="1100" spc="-10" dirty="0">
              <a:latin typeface="Arial"/>
              <a:cs typeface="Arial"/>
            </a:endParaRPr>
          </a:p>
          <a:p>
            <a:pPr>
              <a:lnSpc>
                <a:spcPct val="150000"/>
              </a:lnSpc>
              <a:spcBef>
                <a:spcPts val="100"/>
              </a:spcBef>
            </a:pPr>
            <a:r>
              <a:rPr lang="en-US" sz="1100" spc="-10" dirty="0" smtClean="0">
                <a:latin typeface="Arial"/>
                <a:cs typeface="Arial"/>
              </a:rPr>
              <a:t>Student Email: suriyajaya575@gmail.com</a:t>
            </a:r>
            <a:endParaRPr sz="11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1109662" y="1209675"/>
            <a:ext cx="6024880" cy="2711450"/>
            <a:chOff x="1109662" y="1209675"/>
            <a:chExt cx="6024880" cy="2711450"/>
          </a:xfrm>
        </p:grpSpPr>
        <p:sp>
          <p:nvSpPr>
            <p:cNvPr id="15" name="object 15"/>
            <p:cNvSpPr/>
            <p:nvPr/>
          </p:nvSpPr>
          <p:spPr>
            <a:xfrm>
              <a:off x="1109662" y="3919537"/>
              <a:ext cx="5951855" cy="0"/>
            </a:xfrm>
            <a:custGeom>
              <a:avLst/>
              <a:gdLst/>
              <a:ahLst/>
              <a:cxnLst/>
              <a:rect l="l" t="t" r="r" b="b"/>
              <a:pathLst>
                <a:path w="5951855">
                  <a:moveTo>
                    <a:pt x="0" y="0"/>
                  </a:moveTo>
                  <a:lnTo>
                    <a:pt x="1986597" y="0"/>
                  </a:lnTo>
                </a:path>
                <a:path w="5951855">
                  <a:moveTo>
                    <a:pt x="4591113" y="0"/>
                  </a:moveTo>
                  <a:lnTo>
                    <a:pt x="5951410" y="0"/>
                  </a:lnTo>
                </a:path>
              </a:pathLst>
            </a:custGeom>
            <a:ln w="3175">
              <a:solidFill>
                <a:srgbClr val="000000"/>
              </a:solidFill>
              <a:prstDash val="lgDashDot"/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38325" y="1247775"/>
              <a:ext cx="1143000" cy="666750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457950" y="1209675"/>
              <a:ext cx="676275" cy="66675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924300" y="1285875"/>
              <a:ext cx="1590675" cy="514350"/>
            </a:xfrm>
            <a:prstGeom prst="rect">
              <a:avLst/>
            </a:prstGeom>
          </p:spPr>
        </p:pic>
      </p:grpSp>
      <p:sp>
        <p:nvSpPr>
          <p:cNvPr id="19" name="object 19"/>
          <p:cNvSpPr txBox="1"/>
          <p:nvPr/>
        </p:nvSpPr>
        <p:spPr>
          <a:xfrm>
            <a:off x="5693790" y="3667061"/>
            <a:ext cx="96456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sz="1200" spc="-10" dirty="0">
                <a:latin typeface="Arial"/>
                <a:cs typeface="Arial"/>
              </a:rPr>
              <a:t>College</a:t>
            </a:r>
            <a:r>
              <a:rPr sz="1200" spc="-15" dirty="0">
                <a:latin typeface="Arial"/>
                <a:cs typeface="Arial"/>
              </a:rPr>
              <a:t> </a:t>
            </a:r>
            <a:r>
              <a:rPr sz="1200" spc="-20" dirty="0">
                <a:latin typeface="Arial"/>
                <a:cs typeface="Arial"/>
              </a:rPr>
              <a:t>Name</a:t>
            </a:r>
            <a:endParaRPr sz="12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790819" y="3986847"/>
            <a:ext cx="1316355" cy="53149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R="5080" algn="just">
              <a:lnSpc>
                <a:spcPct val="99600"/>
              </a:lnSpc>
              <a:spcBef>
                <a:spcPts val="130"/>
              </a:spcBef>
            </a:pPr>
            <a:r>
              <a:rPr sz="1100" dirty="0">
                <a:latin typeface="Arial"/>
                <a:cs typeface="Arial"/>
              </a:rPr>
              <a:t>GRT</a:t>
            </a:r>
            <a:r>
              <a:rPr sz="1100" spc="-75" dirty="0">
                <a:latin typeface="Arial"/>
                <a:cs typeface="Arial"/>
              </a:rPr>
              <a:t> </a:t>
            </a:r>
            <a:r>
              <a:rPr sz="1100" dirty="0">
                <a:latin typeface="Arial"/>
                <a:cs typeface="Arial"/>
              </a:rPr>
              <a:t>INSTITUTE</a:t>
            </a:r>
            <a:r>
              <a:rPr sz="1100" spc="5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OF </a:t>
            </a:r>
            <a:r>
              <a:rPr sz="1100" dirty="0">
                <a:latin typeface="Arial"/>
                <a:cs typeface="Arial"/>
              </a:rPr>
              <a:t>ENGINEERING</a:t>
            </a:r>
            <a:r>
              <a:rPr sz="1100" spc="-70" dirty="0">
                <a:latin typeface="Arial"/>
                <a:cs typeface="Arial"/>
              </a:rPr>
              <a:t> </a:t>
            </a:r>
            <a:r>
              <a:rPr sz="1100" spc="-25" dirty="0">
                <a:latin typeface="Arial"/>
                <a:cs typeface="Arial"/>
              </a:rPr>
              <a:t>AND </a:t>
            </a:r>
            <a:r>
              <a:rPr sz="1100" spc="-10" dirty="0">
                <a:latin typeface="Arial"/>
                <a:cs typeface="Arial"/>
              </a:rPr>
              <a:t>TECHNOLOGY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84150" y="164242"/>
            <a:ext cx="3313429" cy="2559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89"/>
              </a:lnSpc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Next</a:t>
            </a:r>
            <a:r>
              <a:rPr sz="1800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Gen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Employability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Program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3999" cy="5143499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2412745" y="1073530"/>
            <a:ext cx="430403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b="1" dirty="0">
                <a:solidFill>
                  <a:srgbClr val="203063"/>
                </a:solidFill>
                <a:latin typeface="Arial"/>
                <a:cs typeface="Arial"/>
              </a:rPr>
              <a:t>CAPSTONE</a:t>
            </a:r>
            <a:r>
              <a:rPr sz="2000" b="1" spc="-50" dirty="0">
                <a:solidFill>
                  <a:srgbClr val="203063"/>
                </a:solidFill>
                <a:latin typeface="Arial"/>
                <a:cs typeface="Arial"/>
              </a:rPr>
              <a:t> </a:t>
            </a:r>
            <a:r>
              <a:rPr sz="2000" b="1" dirty="0">
                <a:solidFill>
                  <a:srgbClr val="203063"/>
                </a:solidFill>
                <a:latin typeface="Arial"/>
                <a:cs typeface="Arial"/>
              </a:rPr>
              <a:t>PROJECT </a:t>
            </a:r>
            <a:r>
              <a:rPr sz="2000" b="1" spc="-10" dirty="0">
                <a:solidFill>
                  <a:srgbClr val="203063"/>
                </a:solidFill>
                <a:latin typeface="Arial"/>
                <a:cs typeface="Arial"/>
              </a:rPr>
              <a:t>SHOWCASE</a:t>
            </a:r>
            <a:endParaRPr sz="200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944562" y="3030601"/>
            <a:ext cx="7255509" cy="558800"/>
            <a:chOff x="944562" y="3030601"/>
            <a:chExt cx="7255509" cy="558800"/>
          </a:xfrm>
        </p:grpSpPr>
        <p:sp>
          <p:nvSpPr>
            <p:cNvPr id="6" name="object 6"/>
            <p:cNvSpPr/>
            <p:nvPr/>
          </p:nvSpPr>
          <p:spPr>
            <a:xfrm>
              <a:off x="957262" y="3043301"/>
              <a:ext cx="7230109" cy="533400"/>
            </a:xfrm>
            <a:custGeom>
              <a:avLst/>
              <a:gdLst/>
              <a:ahLst/>
              <a:cxnLst/>
              <a:rect l="l" t="t" r="r" b="b"/>
              <a:pathLst>
                <a:path w="7230109" h="533400">
                  <a:moveTo>
                    <a:pt x="7140638" y="0"/>
                  </a:moveTo>
                  <a:lnTo>
                    <a:pt x="88900" y="0"/>
                  </a:lnTo>
                  <a:lnTo>
                    <a:pt x="54296" y="6977"/>
                  </a:lnTo>
                  <a:lnTo>
                    <a:pt x="26038" y="26003"/>
                  </a:lnTo>
                  <a:lnTo>
                    <a:pt x="6986" y="54221"/>
                  </a:lnTo>
                  <a:lnTo>
                    <a:pt x="0" y="88773"/>
                  </a:lnTo>
                  <a:lnTo>
                    <a:pt x="0" y="444500"/>
                  </a:lnTo>
                  <a:lnTo>
                    <a:pt x="6986" y="479071"/>
                  </a:lnTo>
                  <a:lnTo>
                    <a:pt x="26038" y="507333"/>
                  </a:lnTo>
                  <a:lnTo>
                    <a:pt x="54296" y="526403"/>
                  </a:lnTo>
                  <a:lnTo>
                    <a:pt x="88900" y="533400"/>
                  </a:lnTo>
                  <a:lnTo>
                    <a:pt x="7140638" y="533400"/>
                  </a:lnTo>
                  <a:lnTo>
                    <a:pt x="7175210" y="526403"/>
                  </a:lnTo>
                  <a:lnTo>
                    <a:pt x="7203471" y="507333"/>
                  </a:lnTo>
                  <a:lnTo>
                    <a:pt x="7222541" y="479071"/>
                  </a:lnTo>
                  <a:lnTo>
                    <a:pt x="7229538" y="444500"/>
                  </a:lnTo>
                  <a:lnTo>
                    <a:pt x="7229538" y="88773"/>
                  </a:lnTo>
                  <a:lnTo>
                    <a:pt x="7222541" y="54221"/>
                  </a:lnTo>
                  <a:lnTo>
                    <a:pt x="7203471" y="26003"/>
                  </a:lnTo>
                  <a:lnTo>
                    <a:pt x="7175210" y="6977"/>
                  </a:lnTo>
                  <a:lnTo>
                    <a:pt x="7140638" y="0"/>
                  </a:lnTo>
                  <a:close/>
                </a:path>
              </a:pathLst>
            </a:custGeom>
            <a:solidFill>
              <a:srgbClr val="DFDDF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957262" y="3043301"/>
              <a:ext cx="7230109" cy="533400"/>
            </a:xfrm>
            <a:custGeom>
              <a:avLst/>
              <a:gdLst/>
              <a:ahLst/>
              <a:cxnLst/>
              <a:rect l="l" t="t" r="r" b="b"/>
              <a:pathLst>
                <a:path w="7230109" h="533400">
                  <a:moveTo>
                    <a:pt x="0" y="88773"/>
                  </a:moveTo>
                  <a:lnTo>
                    <a:pt x="6986" y="54221"/>
                  </a:lnTo>
                  <a:lnTo>
                    <a:pt x="26038" y="26003"/>
                  </a:lnTo>
                  <a:lnTo>
                    <a:pt x="54296" y="6977"/>
                  </a:lnTo>
                  <a:lnTo>
                    <a:pt x="88900" y="0"/>
                  </a:lnTo>
                  <a:lnTo>
                    <a:pt x="7140638" y="0"/>
                  </a:lnTo>
                  <a:lnTo>
                    <a:pt x="7175210" y="6977"/>
                  </a:lnTo>
                  <a:lnTo>
                    <a:pt x="7203471" y="26003"/>
                  </a:lnTo>
                  <a:lnTo>
                    <a:pt x="7222541" y="54221"/>
                  </a:lnTo>
                  <a:lnTo>
                    <a:pt x="7229538" y="88773"/>
                  </a:lnTo>
                  <a:lnTo>
                    <a:pt x="7229538" y="444500"/>
                  </a:lnTo>
                  <a:lnTo>
                    <a:pt x="7222541" y="479071"/>
                  </a:lnTo>
                  <a:lnTo>
                    <a:pt x="7203471" y="507333"/>
                  </a:lnTo>
                  <a:lnTo>
                    <a:pt x="7175210" y="526403"/>
                  </a:lnTo>
                  <a:lnTo>
                    <a:pt x="7140638" y="533400"/>
                  </a:lnTo>
                  <a:lnTo>
                    <a:pt x="88900" y="533400"/>
                  </a:lnTo>
                  <a:lnTo>
                    <a:pt x="54296" y="526403"/>
                  </a:lnTo>
                  <a:lnTo>
                    <a:pt x="26038" y="507333"/>
                  </a:lnTo>
                  <a:lnTo>
                    <a:pt x="6986" y="479071"/>
                  </a:lnTo>
                  <a:lnTo>
                    <a:pt x="0" y="444500"/>
                  </a:lnTo>
                  <a:lnTo>
                    <a:pt x="0" y="88773"/>
                  </a:lnTo>
                  <a:close/>
                </a:path>
              </a:pathLst>
            </a:custGeom>
            <a:ln w="25400">
              <a:solidFill>
                <a:srgbClr val="DFDDF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1712341" y="2687256"/>
            <a:ext cx="5657850" cy="75247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59055" algn="ctr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FFFFFF"/>
                </a:solidFill>
                <a:latin typeface="Arial"/>
                <a:cs typeface="Arial"/>
              </a:rPr>
              <a:t>Project</a:t>
            </a:r>
            <a:r>
              <a:rPr sz="1550" b="1" spc="1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b="1" spc="-20" dirty="0">
                <a:solidFill>
                  <a:srgbClr val="FFFFFF"/>
                </a:solidFill>
                <a:latin typeface="Arial"/>
                <a:cs typeface="Arial"/>
              </a:rPr>
              <a:t>Title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5"/>
              </a:spcBef>
            </a:pPr>
            <a:endParaRPr sz="1550">
              <a:latin typeface="Arial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1550" b="1" dirty="0">
                <a:latin typeface="Arial"/>
                <a:cs typeface="Arial"/>
              </a:rPr>
              <a:t>MUSIC</a:t>
            </a:r>
            <a:r>
              <a:rPr sz="1550" b="1" spc="19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WEB</a:t>
            </a:r>
            <a:r>
              <a:rPr sz="1550" b="1" spc="-11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APPLICATION</a:t>
            </a:r>
            <a:r>
              <a:rPr sz="1550" b="1" spc="204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USING</a:t>
            </a:r>
            <a:r>
              <a:rPr sz="1550" b="1" spc="260" dirty="0">
                <a:latin typeface="Arial"/>
                <a:cs typeface="Arial"/>
              </a:rPr>
              <a:t> </a:t>
            </a:r>
            <a:r>
              <a:rPr sz="1550" b="1" dirty="0">
                <a:latin typeface="Arial"/>
                <a:cs typeface="Arial"/>
              </a:rPr>
              <a:t>DJANGO</a:t>
            </a:r>
            <a:r>
              <a:rPr sz="1550" b="1" spc="120" dirty="0">
                <a:latin typeface="Arial"/>
                <a:cs typeface="Arial"/>
              </a:rPr>
              <a:t> </a:t>
            </a:r>
            <a:r>
              <a:rPr sz="1550" b="1" spc="-10" dirty="0">
                <a:latin typeface="Arial"/>
                <a:cs typeface="Arial"/>
              </a:rPr>
              <a:t>FRAMEWORK</a:t>
            </a:r>
            <a:endParaRPr sz="15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408811" y="3998340"/>
            <a:ext cx="6322695" cy="540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32485" marR="5080" indent="-820419">
              <a:lnSpc>
                <a:spcPct val="109000"/>
              </a:lnSpc>
              <a:spcBef>
                <a:spcPts val="95"/>
              </a:spcBef>
            </a:pP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Abstract</a:t>
            </a:r>
            <a:r>
              <a:rPr sz="1550" spc="1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|</a:t>
            </a:r>
            <a:r>
              <a:rPr sz="1550" spc="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Problem</a:t>
            </a:r>
            <a:r>
              <a:rPr sz="1550" spc="17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Statement</a:t>
            </a:r>
            <a:r>
              <a:rPr sz="1550" spc="2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|</a:t>
            </a:r>
            <a:r>
              <a:rPr sz="1550" spc="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Project</a:t>
            </a:r>
            <a:r>
              <a:rPr sz="1550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Overview</a:t>
            </a:r>
            <a:r>
              <a:rPr sz="1550" spc="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|</a:t>
            </a:r>
            <a:r>
              <a:rPr sz="1550" spc="1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Proposed</a:t>
            </a:r>
            <a:r>
              <a:rPr sz="1550" spc="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Solution</a:t>
            </a:r>
            <a:r>
              <a:rPr sz="1550" spc="1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-50" dirty="0">
                <a:solidFill>
                  <a:srgbClr val="FFFFFF"/>
                </a:solidFill>
                <a:latin typeface="Arial"/>
                <a:cs typeface="Arial"/>
              </a:rPr>
              <a:t>|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Technology</a:t>
            </a:r>
            <a:r>
              <a:rPr sz="1550" spc="204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Used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|</a:t>
            </a:r>
            <a:r>
              <a:rPr sz="1550" spc="2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Modelling</a:t>
            </a:r>
            <a:r>
              <a:rPr sz="1550" spc="20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&amp;</a:t>
            </a:r>
            <a:r>
              <a:rPr sz="1550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Results</a:t>
            </a:r>
            <a:r>
              <a:rPr sz="1550" spc="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dirty="0">
                <a:solidFill>
                  <a:srgbClr val="FFFFFF"/>
                </a:solidFill>
                <a:latin typeface="Arial"/>
                <a:cs typeface="Arial"/>
              </a:rPr>
              <a:t>|</a:t>
            </a:r>
            <a:r>
              <a:rPr sz="1550" spc="-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550" spc="-10" dirty="0">
                <a:solidFill>
                  <a:srgbClr val="FFFFFF"/>
                </a:solidFill>
                <a:latin typeface="Arial"/>
                <a:cs typeface="Arial"/>
              </a:rPr>
              <a:t>Conclusion</a:t>
            </a:r>
            <a:endParaRPr sz="15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100"/>
              </a:spcBef>
            </a:pPr>
            <a:r>
              <a:rPr dirty="0"/>
              <a:t>Next</a:t>
            </a:r>
            <a:r>
              <a:rPr spc="50" dirty="0"/>
              <a:t> </a:t>
            </a:r>
            <a:r>
              <a:rPr dirty="0"/>
              <a:t>Gen</a:t>
            </a:r>
            <a:r>
              <a:rPr spc="-35" dirty="0"/>
              <a:t> </a:t>
            </a:r>
            <a:r>
              <a:rPr dirty="0"/>
              <a:t>Employability</a:t>
            </a:r>
            <a:r>
              <a:rPr spc="-130" dirty="0"/>
              <a:t> </a:t>
            </a:r>
            <a:r>
              <a:rPr spc="-10" dirty="0"/>
              <a:t>Program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842" y="635698"/>
            <a:ext cx="7299325" cy="40297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spc="-10" dirty="0">
                <a:solidFill>
                  <a:srgbClr val="203062"/>
                </a:solidFill>
                <a:latin typeface="Arial"/>
                <a:cs typeface="Arial"/>
              </a:rPr>
              <a:t>Abstract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0"/>
              </a:spcBef>
            </a:pPr>
            <a:endParaRPr sz="1550">
              <a:latin typeface="Arial"/>
              <a:cs typeface="Arial"/>
            </a:endParaRPr>
          </a:p>
          <a:p>
            <a:pPr marL="469900" indent="-304800">
              <a:lnSpc>
                <a:spcPct val="100000"/>
              </a:lnSpc>
              <a:buClr>
                <a:srgbClr val="000000"/>
              </a:buClr>
              <a:buSzPct val="85714"/>
              <a:buAutoNum type="arabicPeriod"/>
              <a:tabLst>
                <a:tab pos="469900" algn="l"/>
              </a:tabLst>
            </a:pP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User</a:t>
            </a:r>
            <a:r>
              <a:rPr sz="1400" b="1" spc="8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Account</a:t>
            </a:r>
            <a:r>
              <a:rPr sz="1400" b="1" spc="-114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Creation</a:t>
            </a:r>
            <a:r>
              <a:rPr sz="1400" b="1" spc="-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400" b="1" spc="-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11111"/>
                </a:solidFill>
                <a:latin typeface="Arial"/>
                <a:cs typeface="Arial"/>
              </a:rPr>
              <a:t>Login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927735" lvl="1" indent="-304800">
              <a:lnSpc>
                <a:spcPct val="100000"/>
              </a:lnSpc>
              <a:spcBef>
                <a:spcPts val="875"/>
              </a:spcBef>
              <a:buClr>
                <a:srgbClr val="000000"/>
              </a:buClr>
              <a:buSzPct val="85714"/>
              <a:buChar char="○"/>
              <a:tabLst>
                <a:tab pos="927735" algn="l"/>
              </a:tabLst>
            </a:pP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Users</a:t>
            </a:r>
            <a:r>
              <a:rPr sz="1400" spc="-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create</a:t>
            </a:r>
            <a:r>
              <a:rPr sz="1400" spc="-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accounts,</a:t>
            </a:r>
            <a:r>
              <a:rPr sz="1400" spc="-1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similar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to</a:t>
            </a:r>
            <a:r>
              <a:rPr sz="1400" spc="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other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music</a:t>
            </a:r>
            <a:r>
              <a:rPr sz="1400" spc="-114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platforms.</a:t>
            </a:r>
            <a:endParaRPr sz="1400">
              <a:latin typeface="Arial"/>
              <a:cs typeface="Arial"/>
            </a:endParaRPr>
          </a:p>
          <a:p>
            <a:pPr marL="927735" lvl="1" indent="-304800">
              <a:lnSpc>
                <a:spcPct val="100000"/>
              </a:lnSpc>
              <a:spcBef>
                <a:spcPts val="800"/>
              </a:spcBef>
              <a:buClr>
                <a:srgbClr val="000000"/>
              </a:buClr>
              <a:buSzPct val="85714"/>
              <a:buChar char="○"/>
              <a:tabLst>
                <a:tab pos="927735" algn="l"/>
              </a:tabLst>
            </a:pP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After</a:t>
            </a:r>
            <a:r>
              <a:rPr sz="1400" spc="-16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successful</a:t>
            </a:r>
            <a:r>
              <a:rPr sz="1400" spc="-1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login,</a:t>
            </a:r>
            <a:r>
              <a:rPr sz="1400" spc="-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they</a:t>
            </a:r>
            <a:r>
              <a:rPr sz="1400" spc="8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are</a:t>
            </a:r>
            <a:r>
              <a:rPr sz="1400" spc="7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redirected</a:t>
            </a:r>
            <a:r>
              <a:rPr sz="1400" spc="-18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to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sz="1400" spc="8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home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 page.</a:t>
            </a:r>
            <a:endParaRPr sz="1400">
              <a:latin typeface="Arial"/>
              <a:cs typeface="Arial"/>
            </a:endParaRPr>
          </a:p>
          <a:p>
            <a:pPr marL="469900" indent="-304800">
              <a:lnSpc>
                <a:spcPct val="100000"/>
              </a:lnSpc>
              <a:spcBef>
                <a:spcPts val="875"/>
              </a:spcBef>
              <a:buClr>
                <a:srgbClr val="000000"/>
              </a:buClr>
              <a:buSzPct val="85714"/>
              <a:buAutoNum type="arabicPeriod"/>
              <a:tabLst>
                <a:tab pos="469900" algn="l"/>
              </a:tabLst>
            </a:pP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Song</a:t>
            </a:r>
            <a:r>
              <a:rPr sz="1400" b="1" spc="-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Search</a:t>
            </a:r>
            <a:r>
              <a:rPr sz="1400" b="1" spc="-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400" b="1" spc="-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11111"/>
                </a:solidFill>
                <a:latin typeface="Arial"/>
                <a:cs typeface="Arial"/>
              </a:rPr>
              <a:t>Playback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927735" lvl="1" indent="-304800">
              <a:lnSpc>
                <a:spcPct val="100000"/>
              </a:lnSpc>
              <a:spcBef>
                <a:spcPts val="875"/>
              </a:spcBef>
              <a:buClr>
                <a:srgbClr val="000000"/>
              </a:buClr>
              <a:buSzPct val="85714"/>
              <a:buChar char="○"/>
              <a:tabLst>
                <a:tab pos="927735" algn="l"/>
              </a:tabLst>
            </a:pP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On</a:t>
            </a:r>
            <a:r>
              <a:rPr sz="1400" spc="-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sz="1400" spc="9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home page,</a:t>
            </a:r>
            <a:r>
              <a:rPr sz="1400" spc="-1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users</a:t>
            </a:r>
            <a:r>
              <a:rPr sz="140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can search</a:t>
            </a:r>
            <a:r>
              <a:rPr sz="1400" spc="-9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for</a:t>
            </a:r>
            <a:r>
              <a:rPr sz="1400" spc="-6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songs</a:t>
            </a:r>
            <a:r>
              <a:rPr sz="1400" spc="-8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based</a:t>
            </a:r>
            <a:r>
              <a:rPr sz="1400" spc="-9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on</a:t>
            </a:r>
            <a:r>
              <a:rPr sz="1400" spc="-8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their</a:t>
            </a:r>
            <a:r>
              <a:rPr sz="1400" spc="10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preferences.</a:t>
            </a:r>
            <a:endParaRPr sz="1400">
              <a:latin typeface="Arial"/>
              <a:cs typeface="Arial"/>
            </a:endParaRPr>
          </a:p>
          <a:p>
            <a:pPr marL="927735" lvl="1" indent="-304800">
              <a:lnSpc>
                <a:spcPct val="100000"/>
              </a:lnSpc>
              <a:spcBef>
                <a:spcPts val="800"/>
              </a:spcBef>
              <a:buClr>
                <a:srgbClr val="000000"/>
              </a:buClr>
              <a:buSzPct val="85714"/>
              <a:buChar char="○"/>
              <a:tabLst>
                <a:tab pos="927735" algn="l"/>
              </a:tabLst>
            </a:pP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An</a:t>
            </a:r>
            <a:r>
              <a:rPr sz="1400" spc="-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API</a:t>
            </a:r>
            <a:r>
              <a:rPr sz="1400" spc="-10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fetches</a:t>
            </a:r>
            <a:r>
              <a:rPr sz="1400" spc="-1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song</a:t>
            </a:r>
            <a:r>
              <a:rPr sz="1400" spc="-1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data,</a:t>
            </a:r>
            <a:r>
              <a:rPr sz="1400" spc="-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allowing</a:t>
            </a:r>
            <a:r>
              <a:rPr sz="1400" spc="1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users</a:t>
            </a:r>
            <a:r>
              <a:rPr sz="1400" spc="-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to</a:t>
            </a:r>
            <a:r>
              <a:rPr sz="1400" spc="-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explore</a:t>
            </a:r>
            <a:r>
              <a:rPr sz="1400" spc="-1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400" spc="1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play</a:t>
            </a:r>
            <a:r>
              <a:rPr sz="1400" spc="-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their</a:t>
            </a:r>
            <a:r>
              <a:rPr sz="1400" spc="-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favorite</a:t>
            </a:r>
            <a:r>
              <a:rPr sz="1400" spc="-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tracks.</a:t>
            </a:r>
            <a:endParaRPr sz="1400">
              <a:latin typeface="Arial"/>
              <a:cs typeface="Arial"/>
            </a:endParaRPr>
          </a:p>
          <a:p>
            <a:pPr marL="469900" indent="-304800">
              <a:lnSpc>
                <a:spcPct val="100000"/>
              </a:lnSpc>
              <a:spcBef>
                <a:spcPts val="1475"/>
              </a:spcBef>
              <a:buClr>
                <a:srgbClr val="000000"/>
              </a:buClr>
              <a:buSzPct val="85714"/>
              <a:buAutoNum type="arabicPeriod"/>
              <a:tabLst>
                <a:tab pos="469900" algn="l"/>
              </a:tabLst>
            </a:pP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Song</a:t>
            </a:r>
            <a:r>
              <a:rPr sz="1400" b="1" spc="-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Management</a:t>
            </a:r>
            <a:r>
              <a:rPr sz="1400" b="1" spc="-9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400" b="1" spc="-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11111"/>
                </a:solidFill>
                <a:latin typeface="Arial"/>
                <a:cs typeface="Arial"/>
              </a:rPr>
              <a:t>Display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927735" lvl="1" indent="-304800">
              <a:lnSpc>
                <a:spcPct val="100000"/>
              </a:lnSpc>
              <a:spcBef>
                <a:spcPts val="1100"/>
              </a:spcBef>
              <a:buClr>
                <a:srgbClr val="000000"/>
              </a:buClr>
              <a:buSzPct val="85714"/>
              <a:buChar char="○"/>
              <a:tabLst>
                <a:tab pos="927735" algn="l"/>
              </a:tabLst>
            </a:pP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Users</a:t>
            </a:r>
            <a:r>
              <a:rPr sz="1400" spc="-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can</a:t>
            </a:r>
            <a:r>
              <a:rPr sz="1400" spc="-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add</a:t>
            </a:r>
            <a:r>
              <a:rPr sz="1400" spc="-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songs</a:t>
            </a:r>
            <a:r>
              <a:rPr sz="1400" spc="-114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to</a:t>
            </a:r>
            <a:r>
              <a:rPr sz="1400" spc="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their</a:t>
            </a:r>
            <a:r>
              <a:rPr sz="1400" spc="-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collection.</a:t>
            </a:r>
            <a:endParaRPr sz="1400">
              <a:latin typeface="Arial"/>
              <a:cs typeface="Arial"/>
            </a:endParaRPr>
          </a:p>
          <a:p>
            <a:pPr marL="927735" lvl="1" indent="-304800">
              <a:lnSpc>
                <a:spcPct val="100000"/>
              </a:lnSpc>
              <a:spcBef>
                <a:spcPts val="800"/>
              </a:spcBef>
              <a:buClr>
                <a:srgbClr val="000000"/>
              </a:buClr>
              <a:buSzPct val="85714"/>
              <a:buChar char="○"/>
              <a:tabLst>
                <a:tab pos="927735" algn="l"/>
              </a:tabLst>
            </a:pP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Corresponding</a:t>
            </a:r>
            <a:r>
              <a:rPr sz="1400" spc="-10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song</a:t>
            </a:r>
            <a:r>
              <a:rPr sz="1400" spc="-9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images</a:t>
            </a:r>
            <a:r>
              <a:rPr sz="1400" spc="-9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are</a:t>
            </a:r>
            <a:r>
              <a:rPr sz="1400" spc="7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displayed</a:t>
            </a:r>
            <a:r>
              <a:rPr sz="1400" spc="-9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on</a:t>
            </a:r>
            <a:r>
              <a:rPr sz="1400" spc="-10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sz="1400" spc="7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home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 page.</a:t>
            </a:r>
            <a:endParaRPr sz="1400">
              <a:latin typeface="Arial"/>
              <a:cs typeface="Arial"/>
            </a:endParaRPr>
          </a:p>
          <a:p>
            <a:pPr marL="469900" indent="-304800">
              <a:lnSpc>
                <a:spcPct val="100000"/>
              </a:lnSpc>
              <a:spcBef>
                <a:spcPts val="875"/>
              </a:spcBef>
              <a:buClr>
                <a:srgbClr val="000000"/>
              </a:buClr>
              <a:buSzPct val="85714"/>
              <a:buAutoNum type="arabicPeriod"/>
              <a:tabLst>
                <a:tab pos="469900" algn="l"/>
              </a:tabLst>
            </a:pP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Admin</a:t>
            </a:r>
            <a:r>
              <a:rPr sz="1400" b="1" spc="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Panel</a:t>
            </a:r>
            <a:r>
              <a:rPr sz="1400" b="1" spc="-1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11111"/>
                </a:solidFill>
                <a:latin typeface="Arial"/>
                <a:cs typeface="Arial"/>
              </a:rPr>
              <a:t>Integration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927735" lvl="1" indent="-304800">
              <a:lnSpc>
                <a:spcPct val="100000"/>
              </a:lnSpc>
              <a:spcBef>
                <a:spcPts val="800"/>
              </a:spcBef>
              <a:buClr>
                <a:srgbClr val="000000"/>
              </a:buClr>
              <a:buSzPct val="85714"/>
              <a:buChar char="○"/>
              <a:tabLst>
                <a:tab pos="927735" algn="l"/>
              </a:tabLst>
            </a:pP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sz="1400" spc="-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application’s</a:t>
            </a:r>
            <a:r>
              <a:rPr sz="1400" spc="-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login</a:t>
            </a:r>
            <a:r>
              <a:rPr sz="1400" spc="-114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system</a:t>
            </a:r>
            <a:r>
              <a:rPr sz="1400" spc="-1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is</a:t>
            </a:r>
            <a:r>
              <a:rPr sz="1400" spc="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managed</a:t>
            </a:r>
            <a:r>
              <a:rPr sz="1400" spc="-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through</a:t>
            </a:r>
            <a:r>
              <a:rPr sz="1400" spc="-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sz="1400" spc="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admin</a:t>
            </a:r>
            <a:r>
              <a:rPr sz="1400" spc="-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panel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100"/>
              </a:spcBef>
            </a:pPr>
            <a:r>
              <a:rPr dirty="0"/>
              <a:t>Next</a:t>
            </a:r>
            <a:r>
              <a:rPr spc="50" dirty="0"/>
              <a:t> </a:t>
            </a:r>
            <a:r>
              <a:rPr dirty="0"/>
              <a:t>Gen</a:t>
            </a:r>
            <a:r>
              <a:rPr spc="-35" dirty="0"/>
              <a:t> </a:t>
            </a:r>
            <a:r>
              <a:rPr dirty="0"/>
              <a:t>Employability</a:t>
            </a:r>
            <a:r>
              <a:rPr spc="-130" dirty="0"/>
              <a:t> </a:t>
            </a:r>
            <a:r>
              <a:rPr spc="-10" dirty="0"/>
              <a:t>Program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1475" y="635698"/>
            <a:ext cx="7536815" cy="395414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203062"/>
                </a:solidFill>
                <a:latin typeface="Arial"/>
                <a:cs typeface="Arial"/>
              </a:rPr>
              <a:t>Problem</a:t>
            </a:r>
            <a:r>
              <a:rPr sz="1550" b="1" spc="135" dirty="0">
                <a:solidFill>
                  <a:srgbClr val="203062"/>
                </a:solidFill>
                <a:latin typeface="Arial"/>
                <a:cs typeface="Arial"/>
              </a:rPr>
              <a:t> </a:t>
            </a:r>
            <a:r>
              <a:rPr sz="1550" b="1" spc="-10" dirty="0">
                <a:solidFill>
                  <a:srgbClr val="203062"/>
                </a:solidFill>
                <a:latin typeface="Arial"/>
                <a:cs typeface="Arial"/>
              </a:rPr>
              <a:t>Statement</a:t>
            </a:r>
            <a:endParaRPr sz="1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30"/>
              </a:spcBef>
            </a:pPr>
            <a:endParaRPr sz="1550">
              <a:latin typeface="Arial"/>
              <a:cs typeface="Arial"/>
            </a:endParaRPr>
          </a:p>
          <a:p>
            <a:pPr marL="813435" indent="-343535">
              <a:lnSpc>
                <a:spcPct val="100000"/>
              </a:lnSpc>
              <a:buClr>
                <a:srgbClr val="000000"/>
              </a:buClr>
              <a:buSzPct val="85714"/>
              <a:buAutoNum type="arabicPeriod"/>
              <a:tabLst>
                <a:tab pos="813435" algn="l"/>
              </a:tabLst>
            </a:pP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User</a:t>
            </a:r>
            <a:r>
              <a:rPr sz="1400" b="1" spc="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Registration</a:t>
            </a:r>
            <a:r>
              <a:rPr sz="1400" b="1" spc="-1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400" b="1" spc="-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11111"/>
                </a:solidFill>
                <a:latin typeface="Arial"/>
                <a:cs typeface="Arial"/>
              </a:rPr>
              <a:t>Login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1022350" lvl="1" indent="-97155">
              <a:lnSpc>
                <a:spcPct val="100000"/>
              </a:lnSpc>
              <a:spcBef>
                <a:spcPts val="875"/>
              </a:spcBef>
              <a:buClr>
                <a:srgbClr val="000000"/>
              </a:buClr>
              <a:buSzPct val="78571"/>
              <a:buChar char="○"/>
              <a:tabLst>
                <a:tab pos="1022350" algn="l"/>
              </a:tabLst>
            </a:pP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Create</a:t>
            </a:r>
            <a:r>
              <a:rPr sz="1400" spc="-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an</a:t>
            </a:r>
            <a:r>
              <a:rPr sz="1400" spc="6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account</a:t>
            </a:r>
            <a:r>
              <a:rPr sz="1400" spc="-9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system</a:t>
            </a:r>
            <a:r>
              <a:rPr sz="1400" spc="-1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where</a:t>
            </a:r>
            <a:r>
              <a:rPr sz="1400" spc="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users</a:t>
            </a:r>
            <a:r>
              <a:rPr sz="1400" spc="-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can</a:t>
            </a:r>
            <a:r>
              <a:rPr sz="1400" spc="-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register</a:t>
            </a:r>
            <a:r>
              <a:rPr sz="1400" spc="-1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400" spc="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log</a:t>
            </a:r>
            <a:r>
              <a:rPr sz="1400" spc="-25" dirty="0">
                <a:solidFill>
                  <a:srgbClr val="111111"/>
                </a:solidFill>
                <a:latin typeface="Arial"/>
                <a:cs typeface="Arial"/>
              </a:rPr>
              <a:t> in.</a:t>
            </a:r>
            <a:endParaRPr sz="1400">
              <a:latin typeface="Arial"/>
              <a:cs typeface="Arial"/>
            </a:endParaRPr>
          </a:p>
          <a:p>
            <a:pPr marL="1270635" lvl="1" indent="-342900">
              <a:lnSpc>
                <a:spcPct val="100000"/>
              </a:lnSpc>
              <a:spcBef>
                <a:spcPts val="800"/>
              </a:spcBef>
              <a:buClr>
                <a:srgbClr val="000000"/>
              </a:buClr>
              <a:buSzPct val="78571"/>
              <a:buChar char="○"/>
              <a:tabLst>
                <a:tab pos="1270635" algn="l"/>
              </a:tabLst>
            </a:pP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Upon</a:t>
            </a:r>
            <a:r>
              <a:rPr sz="1400" spc="-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successful</a:t>
            </a:r>
            <a:r>
              <a:rPr sz="1400" spc="-1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login,</a:t>
            </a:r>
            <a:r>
              <a:rPr sz="1400" spc="-7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users</a:t>
            </a:r>
            <a:r>
              <a:rPr sz="1400" spc="-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should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be</a:t>
            </a:r>
            <a:r>
              <a:rPr sz="1400" spc="-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redirected</a:t>
            </a:r>
            <a:r>
              <a:rPr sz="1400" spc="-9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to</a:t>
            </a:r>
            <a:r>
              <a:rPr sz="1400" spc="-10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sz="1400" spc="7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home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 page.</a:t>
            </a:r>
            <a:endParaRPr sz="1400">
              <a:latin typeface="Arial"/>
              <a:cs typeface="Arial"/>
            </a:endParaRPr>
          </a:p>
          <a:p>
            <a:pPr marL="593090" indent="-139700">
              <a:lnSpc>
                <a:spcPct val="100000"/>
              </a:lnSpc>
              <a:spcBef>
                <a:spcPts val="875"/>
              </a:spcBef>
              <a:buClr>
                <a:srgbClr val="000000"/>
              </a:buClr>
              <a:buSzPct val="85714"/>
              <a:buAutoNum type="arabicPeriod"/>
              <a:tabLst>
                <a:tab pos="593090" algn="l"/>
              </a:tabLst>
            </a:pP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Song</a:t>
            </a:r>
            <a:r>
              <a:rPr sz="1400" b="1" spc="-10" dirty="0">
                <a:solidFill>
                  <a:srgbClr val="111111"/>
                </a:solidFill>
                <a:latin typeface="Arial"/>
                <a:cs typeface="Arial"/>
              </a:rPr>
              <a:t> Management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1022350" lvl="1" indent="-97155">
              <a:lnSpc>
                <a:spcPct val="100000"/>
              </a:lnSpc>
              <a:spcBef>
                <a:spcPts val="875"/>
              </a:spcBef>
              <a:buClr>
                <a:srgbClr val="000000"/>
              </a:buClr>
              <a:buSzPct val="78571"/>
              <a:buChar char="○"/>
              <a:tabLst>
                <a:tab pos="1022350" algn="l"/>
              </a:tabLst>
            </a:pP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Implement</a:t>
            </a:r>
            <a:r>
              <a:rPr sz="1400" spc="-1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</a:t>
            </a:r>
            <a:r>
              <a:rPr sz="1400" spc="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search</a:t>
            </a:r>
            <a:r>
              <a:rPr sz="1400" spc="-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feature</a:t>
            </a:r>
            <a:r>
              <a:rPr sz="1400" spc="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for</a:t>
            </a:r>
            <a:r>
              <a:rPr sz="1400" spc="-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songs</a:t>
            </a:r>
            <a:r>
              <a:rPr sz="1400" spc="-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based</a:t>
            </a:r>
            <a:r>
              <a:rPr sz="1400" spc="-6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on</a:t>
            </a:r>
            <a:r>
              <a:rPr sz="1400" spc="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user</a:t>
            </a:r>
            <a:r>
              <a:rPr sz="1400" spc="-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preferences.</a:t>
            </a:r>
            <a:endParaRPr sz="1400">
              <a:latin typeface="Arial"/>
              <a:cs typeface="Arial"/>
            </a:endParaRPr>
          </a:p>
          <a:p>
            <a:pPr marL="1022350" lvl="1" indent="-97155">
              <a:lnSpc>
                <a:spcPct val="100000"/>
              </a:lnSpc>
              <a:spcBef>
                <a:spcPts val="800"/>
              </a:spcBef>
              <a:buClr>
                <a:srgbClr val="000000"/>
              </a:buClr>
              <a:buSzPct val="78571"/>
              <a:buChar char="○"/>
              <a:tabLst>
                <a:tab pos="1022350" algn="l"/>
              </a:tabLst>
            </a:pP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Utilize</a:t>
            </a:r>
            <a:r>
              <a:rPr sz="1400" spc="1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an</a:t>
            </a:r>
            <a:r>
              <a:rPr sz="1400" spc="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API</a:t>
            </a:r>
            <a:r>
              <a:rPr sz="1400" spc="-9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to</a:t>
            </a:r>
            <a:r>
              <a:rPr sz="1400" spc="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fetch</a:t>
            </a:r>
            <a:r>
              <a:rPr sz="1400" spc="-19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songs</a:t>
            </a:r>
            <a:r>
              <a:rPr sz="1400" spc="-10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400" spc="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display</a:t>
            </a:r>
            <a:r>
              <a:rPr sz="1400" spc="-10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them</a:t>
            </a:r>
            <a:r>
              <a:rPr sz="1400" spc="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on</a:t>
            </a:r>
            <a:r>
              <a:rPr sz="1400" spc="-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sz="1400" spc="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home</a:t>
            </a:r>
            <a:r>
              <a:rPr sz="1400" spc="-1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111111"/>
                </a:solidFill>
                <a:latin typeface="Arial"/>
                <a:cs typeface="Arial"/>
              </a:rPr>
              <a:t>page</a:t>
            </a:r>
            <a:endParaRPr sz="1400">
              <a:latin typeface="Arial"/>
              <a:cs typeface="Arial"/>
            </a:endParaRPr>
          </a:p>
          <a:p>
            <a:pPr marL="593090" indent="-139700">
              <a:lnSpc>
                <a:spcPct val="100000"/>
              </a:lnSpc>
              <a:spcBef>
                <a:spcPts val="875"/>
              </a:spcBef>
              <a:buClr>
                <a:srgbClr val="000000"/>
              </a:buClr>
              <a:buSzPct val="85714"/>
              <a:buAutoNum type="arabicPeriod"/>
              <a:tabLst>
                <a:tab pos="593090" algn="l"/>
              </a:tabLst>
            </a:pP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Song</a:t>
            </a:r>
            <a:r>
              <a:rPr sz="1400" b="1" spc="-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Details</a:t>
            </a:r>
            <a:r>
              <a:rPr sz="1400" b="1" spc="-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400" b="1" spc="-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11111"/>
                </a:solidFill>
                <a:latin typeface="Arial"/>
                <a:cs typeface="Arial"/>
              </a:rPr>
              <a:t>Images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1022350" lvl="1" indent="-97155">
              <a:lnSpc>
                <a:spcPct val="100000"/>
              </a:lnSpc>
              <a:spcBef>
                <a:spcPts val="800"/>
              </a:spcBef>
              <a:buClr>
                <a:srgbClr val="000000"/>
              </a:buClr>
              <a:buSzPct val="78571"/>
              <a:buChar char="○"/>
              <a:tabLst>
                <a:tab pos="1022350" algn="l"/>
              </a:tabLst>
            </a:pP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Display</a:t>
            </a:r>
            <a:r>
              <a:rPr sz="1400" spc="-8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corresponding</a:t>
            </a:r>
            <a:r>
              <a:rPr sz="1400" spc="-9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images</a:t>
            </a:r>
            <a:r>
              <a:rPr sz="1400" spc="-8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related</a:t>
            </a:r>
            <a:r>
              <a:rPr sz="1400" spc="-9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to</a:t>
            </a:r>
            <a:r>
              <a:rPr sz="1400" spc="8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each song</a:t>
            </a:r>
            <a:r>
              <a:rPr sz="1400" spc="-9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on</a:t>
            </a:r>
            <a:r>
              <a:rPr sz="1400" spc="-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sz="1400" spc="8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home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page.</a:t>
            </a:r>
            <a:endParaRPr sz="1400">
              <a:latin typeface="Arial"/>
              <a:cs typeface="Arial"/>
            </a:endParaRPr>
          </a:p>
          <a:p>
            <a:pPr marL="1022350" lvl="1" indent="-97155">
              <a:lnSpc>
                <a:spcPct val="100000"/>
              </a:lnSpc>
              <a:spcBef>
                <a:spcPts val="875"/>
              </a:spcBef>
              <a:buClr>
                <a:srgbClr val="000000"/>
              </a:buClr>
              <a:buSzPct val="78571"/>
              <a:buChar char="○"/>
              <a:tabLst>
                <a:tab pos="1022350" algn="l"/>
              </a:tabLst>
            </a:pP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Enable</a:t>
            </a:r>
            <a:r>
              <a:rPr sz="1400" spc="-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users</a:t>
            </a:r>
            <a:r>
              <a:rPr sz="1400" spc="-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to</a:t>
            </a:r>
            <a:r>
              <a:rPr sz="1400" spc="-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easily</a:t>
            </a:r>
            <a:r>
              <a:rPr sz="1400" spc="-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play</a:t>
            </a:r>
            <a:r>
              <a:rPr sz="1400" spc="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sz="1400" spc="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songs</a:t>
            </a:r>
            <a:r>
              <a:rPr sz="1400" spc="-10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directly</a:t>
            </a:r>
            <a:r>
              <a:rPr sz="1400" spc="-1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from</a:t>
            </a:r>
            <a:r>
              <a:rPr sz="1400" spc="-1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sz="1400" spc="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web</a:t>
            </a:r>
            <a:r>
              <a:rPr sz="1400" spc="-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application.</a:t>
            </a:r>
            <a:endParaRPr sz="1400">
              <a:latin typeface="Arial"/>
              <a:cs typeface="Arial"/>
            </a:endParaRPr>
          </a:p>
          <a:p>
            <a:pPr marL="593090" indent="-139700">
              <a:lnSpc>
                <a:spcPct val="100000"/>
              </a:lnSpc>
              <a:spcBef>
                <a:spcPts val="875"/>
              </a:spcBef>
              <a:buClr>
                <a:srgbClr val="000000"/>
              </a:buClr>
              <a:buSzPct val="85714"/>
              <a:buAutoNum type="arabicPeriod"/>
              <a:tabLst>
                <a:tab pos="593090" algn="l"/>
              </a:tabLst>
            </a:pP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Admin</a:t>
            </a:r>
            <a:r>
              <a:rPr sz="1400" b="1" spc="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Panel</a:t>
            </a:r>
            <a:r>
              <a:rPr sz="1400" b="1" spc="-1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11111"/>
                </a:solidFill>
                <a:latin typeface="Arial"/>
                <a:cs typeface="Arial"/>
              </a:rPr>
              <a:t>Integration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1022350" lvl="1" indent="-97155">
              <a:lnSpc>
                <a:spcPct val="100000"/>
              </a:lnSpc>
              <a:spcBef>
                <a:spcPts val="800"/>
              </a:spcBef>
              <a:buClr>
                <a:srgbClr val="000000"/>
              </a:buClr>
              <a:buSzPct val="78571"/>
              <a:buChar char="○"/>
              <a:tabLst>
                <a:tab pos="1022350" algn="l"/>
              </a:tabLst>
            </a:pP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Manage</a:t>
            </a:r>
            <a:r>
              <a:rPr sz="1400" spc="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sz="1400" spc="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login</a:t>
            </a:r>
            <a:r>
              <a:rPr sz="1400" spc="-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system</a:t>
            </a:r>
            <a:r>
              <a:rPr sz="1400" spc="-1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400" spc="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user</a:t>
            </a:r>
            <a:r>
              <a:rPr sz="1400" spc="-114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authentication</a:t>
            </a:r>
            <a:r>
              <a:rPr sz="1400" spc="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through</a:t>
            </a:r>
            <a:r>
              <a:rPr sz="1400" spc="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sz="1400" spc="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Django</a:t>
            </a:r>
            <a:r>
              <a:rPr sz="1400" spc="-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admin</a:t>
            </a:r>
            <a:r>
              <a:rPr sz="1400" spc="-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panel.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100"/>
              </a:spcBef>
            </a:pPr>
            <a:r>
              <a:rPr dirty="0"/>
              <a:t>Next</a:t>
            </a:r>
            <a:r>
              <a:rPr spc="50" dirty="0"/>
              <a:t> </a:t>
            </a:r>
            <a:r>
              <a:rPr dirty="0"/>
              <a:t>Gen</a:t>
            </a:r>
            <a:r>
              <a:rPr spc="-35" dirty="0"/>
              <a:t> </a:t>
            </a:r>
            <a:r>
              <a:rPr dirty="0"/>
              <a:t>Employability</a:t>
            </a:r>
            <a:r>
              <a:rPr spc="-130" dirty="0"/>
              <a:t> </a:t>
            </a:r>
            <a:r>
              <a:rPr spc="-10" dirty="0"/>
              <a:t>Program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842" y="635698"/>
            <a:ext cx="6978015" cy="42106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203062"/>
                </a:solidFill>
                <a:latin typeface="Arial"/>
                <a:cs typeface="Arial"/>
              </a:rPr>
              <a:t>Project</a:t>
            </a:r>
            <a:r>
              <a:rPr sz="1550" b="1" spc="110" dirty="0">
                <a:solidFill>
                  <a:srgbClr val="203062"/>
                </a:solidFill>
                <a:latin typeface="Arial"/>
                <a:cs typeface="Arial"/>
              </a:rPr>
              <a:t> </a:t>
            </a:r>
            <a:r>
              <a:rPr sz="1550" b="1" spc="-10" dirty="0">
                <a:solidFill>
                  <a:srgbClr val="203062"/>
                </a:solidFill>
                <a:latin typeface="Arial"/>
                <a:cs typeface="Arial"/>
              </a:rPr>
              <a:t>Overview</a:t>
            </a:r>
            <a:endParaRPr sz="1550">
              <a:latin typeface="Arial"/>
              <a:cs typeface="Arial"/>
            </a:endParaRPr>
          </a:p>
          <a:p>
            <a:pPr marL="508000" indent="-342900">
              <a:lnSpc>
                <a:spcPct val="100000"/>
              </a:lnSpc>
              <a:spcBef>
                <a:spcPts val="1580"/>
              </a:spcBef>
              <a:buClr>
                <a:srgbClr val="000000"/>
              </a:buClr>
              <a:buSzPct val="85714"/>
              <a:buAutoNum type="arabicPeriod"/>
              <a:tabLst>
                <a:tab pos="508000" algn="l"/>
              </a:tabLst>
            </a:pP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Identifying</a:t>
            </a:r>
            <a:r>
              <a:rPr sz="1400" b="1" spc="-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Project</a:t>
            </a:r>
            <a:r>
              <a:rPr sz="1400" b="1" spc="-7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11111"/>
                </a:solidFill>
                <a:latin typeface="Arial"/>
                <a:cs typeface="Arial"/>
              </a:rPr>
              <a:t>Goals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927735" lvl="1" indent="-304800">
              <a:lnSpc>
                <a:spcPct val="100000"/>
              </a:lnSpc>
              <a:spcBef>
                <a:spcPts val="875"/>
              </a:spcBef>
              <a:buClr>
                <a:srgbClr val="000000"/>
              </a:buClr>
              <a:buSzPct val="85714"/>
              <a:buChar char="○"/>
              <a:tabLst>
                <a:tab pos="927735" algn="l"/>
              </a:tabLst>
            </a:pP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Define</a:t>
            </a:r>
            <a:r>
              <a:rPr sz="1400" spc="-8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clear</a:t>
            </a:r>
            <a:r>
              <a:rPr sz="1400" spc="-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objectives</a:t>
            </a:r>
            <a:r>
              <a:rPr sz="1400" spc="-7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400" spc="10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outcomes</a:t>
            </a:r>
            <a:r>
              <a:rPr sz="1400" spc="-16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for</a:t>
            </a:r>
            <a:r>
              <a:rPr sz="1400" spc="-1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sz="1400" spc="10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project.</a:t>
            </a:r>
            <a:endParaRPr sz="1400">
              <a:latin typeface="Arial"/>
              <a:cs typeface="Arial"/>
            </a:endParaRPr>
          </a:p>
          <a:p>
            <a:pPr marL="927735" lvl="1" indent="-304800">
              <a:lnSpc>
                <a:spcPct val="100000"/>
              </a:lnSpc>
              <a:spcBef>
                <a:spcPts val="800"/>
              </a:spcBef>
              <a:buClr>
                <a:srgbClr val="000000"/>
              </a:buClr>
              <a:buSzPct val="85714"/>
              <a:buChar char="○"/>
              <a:tabLst>
                <a:tab pos="927735" algn="l"/>
              </a:tabLst>
            </a:pPr>
            <a:r>
              <a:rPr sz="1400" spc="10" dirty="0">
                <a:solidFill>
                  <a:srgbClr val="111111"/>
                </a:solidFill>
                <a:latin typeface="Arial"/>
                <a:cs typeface="Arial"/>
              </a:rPr>
              <a:t>Specify</a:t>
            </a:r>
            <a:r>
              <a:rPr sz="1400" spc="-204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what</a:t>
            </a:r>
            <a:r>
              <a:rPr sz="140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11111"/>
                </a:solidFill>
                <a:latin typeface="Arial"/>
                <a:cs typeface="Arial"/>
              </a:rPr>
              <a:t>needs</a:t>
            </a:r>
            <a:r>
              <a:rPr sz="1400" spc="-1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11111"/>
                </a:solidFill>
                <a:latin typeface="Arial"/>
                <a:cs typeface="Arial"/>
              </a:rPr>
              <a:t>to</a:t>
            </a:r>
            <a:r>
              <a:rPr sz="1400" spc="-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11111"/>
                </a:solidFill>
                <a:latin typeface="Arial"/>
                <a:cs typeface="Arial"/>
              </a:rPr>
              <a:t>be</a:t>
            </a:r>
            <a:r>
              <a:rPr sz="1400" spc="-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achieved</a:t>
            </a:r>
            <a:r>
              <a:rPr sz="1400" spc="-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40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11111"/>
                </a:solidFill>
                <a:latin typeface="Arial"/>
                <a:cs typeface="Arial"/>
              </a:rPr>
              <a:t>why</a:t>
            </a:r>
            <a:r>
              <a:rPr sz="140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11111"/>
                </a:solidFill>
                <a:latin typeface="Arial"/>
                <a:cs typeface="Arial"/>
              </a:rPr>
              <a:t>it</a:t>
            </a:r>
            <a:r>
              <a:rPr sz="1400" spc="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matters.</a:t>
            </a:r>
            <a:endParaRPr sz="1400">
              <a:latin typeface="Arial"/>
              <a:cs typeface="Arial"/>
            </a:endParaRPr>
          </a:p>
          <a:p>
            <a:pPr marL="469900" indent="-304800">
              <a:lnSpc>
                <a:spcPct val="100000"/>
              </a:lnSpc>
              <a:spcBef>
                <a:spcPts val="875"/>
              </a:spcBef>
              <a:buClr>
                <a:srgbClr val="000000"/>
              </a:buClr>
              <a:buSzPct val="85714"/>
              <a:buAutoNum type="arabicPeriod"/>
              <a:tabLst>
                <a:tab pos="469900" algn="l"/>
              </a:tabLst>
            </a:pP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Scope</a:t>
            </a:r>
            <a:r>
              <a:rPr sz="1400" b="1" spc="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11111"/>
                </a:solidFill>
                <a:latin typeface="Arial"/>
                <a:cs typeface="Arial"/>
              </a:rPr>
              <a:t>Definition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927735" lvl="1" indent="-304800">
              <a:lnSpc>
                <a:spcPct val="100000"/>
              </a:lnSpc>
              <a:spcBef>
                <a:spcPts val="875"/>
              </a:spcBef>
              <a:buClr>
                <a:srgbClr val="000000"/>
              </a:buClr>
              <a:buSzPct val="85714"/>
              <a:buChar char="○"/>
              <a:tabLst>
                <a:tab pos="927735" algn="l"/>
              </a:tabLst>
            </a:pP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Clearly</a:t>
            </a:r>
            <a:r>
              <a:rPr sz="1400" spc="-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outline</a:t>
            </a:r>
            <a:r>
              <a:rPr sz="1400" spc="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sz="1400" spc="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boundaries</a:t>
            </a:r>
            <a:r>
              <a:rPr sz="1400" spc="-1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of</a:t>
            </a:r>
            <a:r>
              <a:rPr sz="1400" spc="-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sz="140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project.</a:t>
            </a:r>
            <a:endParaRPr sz="1400">
              <a:latin typeface="Arial"/>
              <a:cs typeface="Arial"/>
            </a:endParaRPr>
          </a:p>
          <a:p>
            <a:pPr marL="927735" lvl="1" indent="-304800">
              <a:lnSpc>
                <a:spcPct val="100000"/>
              </a:lnSpc>
              <a:spcBef>
                <a:spcPts val="800"/>
              </a:spcBef>
              <a:buClr>
                <a:srgbClr val="000000"/>
              </a:buClr>
              <a:buSzPct val="85714"/>
              <a:buChar char="○"/>
              <a:tabLst>
                <a:tab pos="927735" algn="l"/>
              </a:tabLst>
            </a:pP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Identify</a:t>
            </a:r>
            <a:r>
              <a:rPr sz="1400" spc="-18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what</a:t>
            </a:r>
            <a:r>
              <a:rPr sz="1400" spc="16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is</a:t>
            </a:r>
            <a:r>
              <a:rPr sz="1400" spc="-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included</a:t>
            </a:r>
            <a:r>
              <a:rPr sz="1400" spc="-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400" spc="6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excluded</a:t>
            </a:r>
            <a:r>
              <a:rPr sz="1400" spc="-1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from</a:t>
            </a:r>
            <a:r>
              <a:rPr sz="1400" spc="-1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sz="1400" spc="6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project</a:t>
            </a:r>
            <a:r>
              <a:rPr sz="1400" spc="-16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scope.</a:t>
            </a:r>
            <a:endParaRPr sz="1400">
              <a:latin typeface="Arial"/>
              <a:cs typeface="Arial"/>
            </a:endParaRPr>
          </a:p>
          <a:p>
            <a:pPr marL="469900" indent="-304800">
              <a:lnSpc>
                <a:spcPct val="100000"/>
              </a:lnSpc>
              <a:spcBef>
                <a:spcPts val="869"/>
              </a:spcBef>
              <a:buClr>
                <a:srgbClr val="000000"/>
              </a:buClr>
              <a:buSzPct val="85714"/>
              <a:buAutoNum type="arabicPeriod"/>
              <a:tabLst>
                <a:tab pos="469900" algn="l"/>
              </a:tabLst>
            </a:pP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Resource</a:t>
            </a:r>
            <a:r>
              <a:rPr sz="1400" b="1" spc="-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Allocation</a:t>
            </a:r>
            <a:r>
              <a:rPr sz="1400" b="1" spc="-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400" b="1" spc="-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11111"/>
                </a:solidFill>
                <a:latin typeface="Arial"/>
                <a:cs typeface="Arial"/>
              </a:rPr>
              <a:t>Constraints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927735" lvl="1" indent="-304800">
              <a:lnSpc>
                <a:spcPct val="100000"/>
              </a:lnSpc>
              <a:spcBef>
                <a:spcPts val="800"/>
              </a:spcBef>
              <a:buClr>
                <a:srgbClr val="000000"/>
              </a:buClr>
              <a:buSzPct val="85714"/>
              <a:buChar char="○"/>
              <a:tabLst>
                <a:tab pos="927735" algn="l"/>
              </a:tabLst>
            </a:pP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Determine</a:t>
            </a:r>
            <a:r>
              <a:rPr sz="1400" spc="-114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available</a:t>
            </a:r>
            <a:r>
              <a:rPr sz="1400" spc="1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resources</a:t>
            </a:r>
            <a:r>
              <a:rPr sz="1400" spc="-19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(such</a:t>
            </a:r>
            <a:r>
              <a:rPr sz="1400" spc="-1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as</a:t>
            </a:r>
            <a:r>
              <a:rPr sz="1400" spc="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budget,</a:t>
            </a:r>
            <a:r>
              <a:rPr sz="1400" spc="-16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time,</a:t>
            </a:r>
            <a:r>
              <a:rPr sz="1400" spc="-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400" spc="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personnel).</a:t>
            </a:r>
            <a:endParaRPr sz="1400">
              <a:latin typeface="Arial"/>
              <a:cs typeface="Arial"/>
            </a:endParaRPr>
          </a:p>
          <a:p>
            <a:pPr marL="927735" lvl="1" indent="-304800">
              <a:lnSpc>
                <a:spcPct val="100000"/>
              </a:lnSpc>
              <a:spcBef>
                <a:spcPts val="875"/>
              </a:spcBef>
              <a:buClr>
                <a:srgbClr val="000000"/>
              </a:buClr>
              <a:buSzPct val="85714"/>
              <a:buChar char="○"/>
              <a:tabLst>
                <a:tab pos="927735" algn="l"/>
              </a:tabLst>
            </a:pP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Highlight</a:t>
            </a:r>
            <a:r>
              <a:rPr sz="1400" spc="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any</a:t>
            </a:r>
            <a:r>
              <a:rPr sz="1400" spc="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limitations</a:t>
            </a:r>
            <a:r>
              <a:rPr sz="1400" spc="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or</a:t>
            </a:r>
            <a:r>
              <a:rPr sz="1400" spc="-114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constraints</a:t>
            </a:r>
            <a:r>
              <a:rPr sz="1400" spc="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that</a:t>
            </a:r>
            <a:r>
              <a:rPr sz="1400" spc="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might</a:t>
            </a:r>
            <a:r>
              <a:rPr sz="1400" spc="-114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impact</a:t>
            </a:r>
            <a:r>
              <a:rPr sz="1400" spc="-114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project</a:t>
            </a:r>
            <a:r>
              <a:rPr sz="1400" spc="-18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execution.</a:t>
            </a:r>
            <a:endParaRPr sz="1400">
              <a:latin typeface="Arial"/>
              <a:cs typeface="Arial"/>
            </a:endParaRPr>
          </a:p>
          <a:p>
            <a:pPr marL="469900" indent="-304800">
              <a:lnSpc>
                <a:spcPct val="100000"/>
              </a:lnSpc>
              <a:spcBef>
                <a:spcPts val="875"/>
              </a:spcBef>
              <a:buClr>
                <a:srgbClr val="000000"/>
              </a:buClr>
              <a:buSzPct val="85714"/>
              <a:buAutoNum type="arabicPeriod"/>
              <a:tabLst>
                <a:tab pos="469900" algn="l"/>
              </a:tabLst>
            </a:pP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Stakeholder</a:t>
            </a:r>
            <a:r>
              <a:rPr sz="1400" b="1" spc="9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11111"/>
                </a:solidFill>
                <a:latin typeface="Arial"/>
                <a:cs typeface="Arial"/>
              </a:rPr>
              <a:t>Communication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927735" lvl="1" indent="-304800">
              <a:lnSpc>
                <a:spcPct val="100000"/>
              </a:lnSpc>
              <a:spcBef>
                <a:spcPts val="800"/>
              </a:spcBef>
              <a:buClr>
                <a:srgbClr val="000000"/>
              </a:buClr>
              <a:buSzPct val="85714"/>
              <a:buChar char="○"/>
              <a:tabLst>
                <a:tab pos="927735" algn="l"/>
              </a:tabLst>
            </a:pP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Establish</a:t>
            </a:r>
            <a:r>
              <a:rPr sz="1400" spc="-8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effective</a:t>
            </a:r>
            <a:r>
              <a:rPr sz="1400" spc="-8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communication</a:t>
            </a:r>
            <a:r>
              <a:rPr sz="1400" spc="-1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channels</a:t>
            </a:r>
            <a:r>
              <a:rPr sz="1400" spc="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with</a:t>
            </a:r>
            <a:r>
              <a:rPr sz="1400" spc="19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project</a:t>
            </a:r>
            <a:r>
              <a:rPr sz="1400" spc="-1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stakeholders.</a:t>
            </a:r>
            <a:endParaRPr sz="1400">
              <a:latin typeface="Arial"/>
              <a:cs typeface="Arial"/>
            </a:endParaRPr>
          </a:p>
          <a:p>
            <a:pPr marL="927735" lvl="1" indent="-304800">
              <a:lnSpc>
                <a:spcPct val="100000"/>
              </a:lnSpc>
              <a:spcBef>
                <a:spcPts val="875"/>
              </a:spcBef>
              <a:buClr>
                <a:srgbClr val="000000"/>
              </a:buClr>
              <a:buSzPct val="85714"/>
              <a:buChar char="○"/>
              <a:tabLst>
                <a:tab pos="927735" algn="l"/>
              </a:tabLst>
            </a:pP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Ensure</a:t>
            </a:r>
            <a:r>
              <a:rPr sz="1400" spc="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alignment</a:t>
            </a:r>
            <a:r>
              <a:rPr sz="1400" spc="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between</a:t>
            </a:r>
            <a:r>
              <a:rPr sz="1400" spc="-16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project</a:t>
            </a:r>
            <a:r>
              <a:rPr sz="1400" spc="-1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team</a:t>
            </a:r>
            <a:r>
              <a:rPr sz="1400" spc="9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members,</a:t>
            </a:r>
            <a:r>
              <a:rPr sz="1400" spc="-1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sponsors,</a:t>
            </a:r>
            <a:r>
              <a:rPr sz="1400" spc="-1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400" spc="1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end-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users.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100"/>
              </a:spcBef>
            </a:pPr>
            <a:r>
              <a:rPr dirty="0"/>
              <a:t>Next</a:t>
            </a:r>
            <a:r>
              <a:rPr spc="50" dirty="0"/>
              <a:t> </a:t>
            </a:r>
            <a:r>
              <a:rPr dirty="0"/>
              <a:t>Gen</a:t>
            </a:r>
            <a:r>
              <a:rPr spc="-35" dirty="0"/>
              <a:t> </a:t>
            </a:r>
            <a:r>
              <a:rPr dirty="0"/>
              <a:t>Employability</a:t>
            </a:r>
            <a:r>
              <a:rPr spc="-130" dirty="0"/>
              <a:t> </a:t>
            </a:r>
            <a:r>
              <a:rPr spc="-10" dirty="0"/>
              <a:t>Program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28600" y="514350"/>
            <a:ext cx="8488362" cy="4383251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18745">
              <a:lnSpc>
                <a:spcPct val="100000"/>
              </a:lnSpc>
              <a:spcBef>
                <a:spcPts val="560"/>
              </a:spcBef>
            </a:pPr>
            <a:r>
              <a:rPr sz="1550" b="1" dirty="0">
                <a:solidFill>
                  <a:srgbClr val="203062"/>
                </a:solidFill>
                <a:latin typeface="Arial"/>
                <a:cs typeface="Arial"/>
              </a:rPr>
              <a:t>Proposed</a:t>
            </a:r>
            <a:r>
              <a:rPr sz="1550" b="1" spc="125" dirty="0">
                <a:solidFill>
                  <a:srgbClr val="203062"/>
                </a:solidFill>
                <a:latin typeface="Arial"/>
                <a:cs typeface="Arial"/>
              </a:rPr>
              <a:t> </a:t>
            </a:r>
            <a:r>
              <a:rPr sz="1550" b="1" spc="-10" dirty="0">
                <a:solidFill>
                  <a:srgbClr val="203062"/>
                </a:solidFill>
                <a:latin typeface="Arial"/>
                <a:cs typeface="Arial"/>
              </a:rPr>
              <a:t>Solution</a:t>
            </a:r>
            <a:endParaRPr sz="155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340"/>
              </a:spcBef>
              <a:buClr>
                <a:srgbClr val="000000"/>
              </a:buClr>
              <a:buAutoNum type="arabicPeriod"/>
              <a:tabLst>
                <a:tab pos="298450" algn="l"/>
              </a:tabLst>
            </a:pPr>
            <a:r>
              <a:rPr sz="1200" b="1" dirty="0">
                <a:solidFill>
                  <a:srgbClr val="111111"/>
                </a:solidFill>
                <a:latin typeface="Arial"/>
                <a:cs typeface="Arial"/>
              </a:rPr>
              <a:t>Problem</a:t>
            </a:r>
            <a:r>
              <a:rPr sz="1200" b="1" spc="-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11111"/>
                </a:solidFill>
                <a:latin typeface="Arial"/>
                <a:cs typeface="Arial"/>
              </a:rPr>
              <a:t>Context</a:t>
            </a:r>
            <a:r>
              <a:rPr sz="1200" b="1" spc="-6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200" b="1" spc="-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111111"/>
                </a:solidFill>
                <a:latin typeface="Arial"/>
                <a:cs typeface="Arial"/>
              </a:rPr>
              <a:t>Importance</a:t>
            </a:r>
            <a:r>
              <a:rPr sz="1200" spc="-1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9"/>
              </a:spcBef>
              <a:buFont typeface="Arial"/>
              <a:buAutoNum type="arabicPeriod"/>
            </a:pPr>
            <a:endParaRPr sz="1200">
              <a:latin typeface="Arial"/>
              <a:cs typeface="Arial"/>
            </a:endParaRPr>
          </a:p>
          <a:p>
            <a:pPr marL="1214120" lvl="1" indent="-286385">
              <a:lnSpc>
                <a:spcPct val="100000"/>
              </a:lnSpc>
              <a:buClr>
                <a:srgbClr val="000000"/>
              </a:buClr>
              <a:buFont typeface="Arial"/>
              <a:buChar char="○"/>
              <a:tabLst>
                <a:tab pos="1214120" algn="l"/>
              </a:tabLst>
            </a:pPr>
            <a:r>
              <a:rPr sz="1200" b="1" dirty="0">
                <a:solidFill>
                  <a:srgbClr val="111111"/>
                </a:solidFill>
                <a:latin typeface="Arial"/>
                <a:cs typeface="Arial"/>
              </a:rPr>
              <a:t>Context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r>
              <a:rPr sz="1200" spc="-8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Our</a:t>
            </a:r>
            <a:r>
              <a:rPr sz="1200" spc="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goal</a:t>
            </a:r>
            <a:r>
              <a:rPr sz="1200" spc="-8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is</a:t>
            </a:r>
            <a:r>
              <a:rPr sz="1200" spc="-8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to</a:t>
            </a:r>
            <a:r>
              <a:rPr sz="1200" spc="-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create</a:t>
            </a:r>
            <a:r>
              <a:rPr sz="1200" spc="-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a</a:t>
            </a:r>
            <a:r>
              <a:rPr sz="1200" spc="-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music</a:t>
            </a:r>
            <a:r>
              <a:rPr sz="1200" spc="-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web</a:t>
            </a:r>
            <a:r>
              <a:rPr sz="1200" spc="-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11111"/>
                </a:solidFill>
                <a:latin typeface="Arial"/>
                <a:cs typeface="Arial"/>
              </a:rPr>
              <a:t>application</a:t>
            </a:r>
            <a:r>
              <a:rPr sz="1200" spc="-10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where</a:t>
            </a:r>
            <a:r>
              <a:rPr sz="1200" spc="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users</a:t>
            </a:r>
            <a:r>
              <a:rPr sz="1200" spc="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can</a:t>
            </a:r>
            <a:r>
              <a:rPr sz="1200" spc="-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11111"/>
                </a:solidFill>
                <a:latin typeface="Arial"/>
                <a:cs typeface="Arial"/>
              </a:rPr>
              <a:t>discover,</a:t>
            </a:r>
            <a:r>
              <a:rPr sz="1200" spc="-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play,</a:t>
            </a:r>
            <a:r>
              <a:rPr sz="1200" spc="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200" spc="-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manage</a:t>
            </a:r>
            <a:r>
              <a:rPr sz="1200" spc="-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11111"/>
                </a:solidFill>
                <a:latin typeface="Arial"/>
                <a:cs typeface="Arial"/>
              </a:rPr>
              <a:t>songs.</a:t>
            </a:r>
            <a:endParaRPr sz="12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09"/>
              </a:spcBef>
              <a:buFont typeface="Arial"/>
              <a:buChar char="○"/>
            </a:pPr>
            <a:endParaRPr sz="1200">
              <a:latin typeface="Arial"/>
              <a:cs typeface="Arial"/>
            </a:endParaRPr>
          </a:p>
          <a:p>
            <a:pPr marL="1214120" lvl="1" indent="-286385">
              <a:lnSpc>
                <a:spcPct val="100000"/>
              </a:lnSpc>
              <a:buClr>
                <a:srgbClr val="000000"/>
              </a:buClr>
              <a:buFont typeface="Arial"/>
              <a:buChar char="○"/>
              <a:tabLst>
                <a:tab pos="1214120" algn="l"/>
              </a:tabLst>
            </a:pPr>
            <a:r>
              <a:rPr sz="1200" b="1" dirty="0">
                <a:solidFill>
                  <a:srgbClr val="111111"/>
                </a:solidFill>
                <a:latin typeface="Arial"/>
                <a:cs typeface="Arial"/>
              </a:rPr>
              <a:t>Importance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r>
              <a:rPr sz="1200" spc="-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Music</a:t>
            </a:r>
            <a:r>
              <a:rPr sz="1200" spc="-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applications</a:t>
            </a:r>
            <a:r>
              <a:rPr sz="1200" spc="-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11111"/>
                </a:solidFill>
                <a:latin typeface="Arial"/>
                <a:cs typeface="Arial"/>
              </a:rPr>
              <a:t>enhance</a:t>
            </a:r>
            <a:r>
              <a:rPr sz="1200" spc="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user</a:t>
            </a:r>
            <a:r>
              <a:rPr sz="120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11111"/>
                </a:solidFill>
                <a:latin typeface="Arial"/>
                <a:cs typeface="Arial"/>
              </a:rPr>
              <a:t>experience,</a:t>
            </a:r>
            <a:r>
              <a:rPr sz="120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11111"/>
                </a:solidFill>
                <a:latin typeface="Arial"/>
                <a:cs typeface="Arial"/>
              </a:rPr>
              <a:t>provide</a:t>
            </a:r>
            <a:r>
              <a:rPr sz="1200" spc="-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111111"/>
                </a:solidFill>
                <a:latin typeface="Arial"/>
                <a:cs typeface="Arial"/>
              </a:rPr>
              <a:t>entertainment,</a:t>
            </a:r>
            <a:r>
              <a:rPr sz="1200" spc="18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200" spc="-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11111"/>
                </a:solidFill>
                <a:latin typeface="Arial"/>
                <a:cs typeface="Arial"/>
              </a:rPr>
              <a:t>allow</a:t>
            </a:r>
            <a:r>
              <a:rPr sz="1200" spc="-6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artists</a:t>
            </a:r>
            <a:r>
              <a:rPr sz="1200" spc="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spc="-25" dirty="0">
                <a:solidFill>
                  <a:srgbClr val="111111"/>
                </a:solidFill>
                <a:latin typeface="Arial"/>
                <a:cs typeface="Arial"/>
              </a:rPr>
              <a:t>to</a:t>
            </a:r>
            <a:endParaRPr sz="1200">
              <a:latin typeface="Arial"/>
              <a:cs typeface="Arial"/>
            </a:endParaRPr>
          </a:p>
          <a:p>
            <a:pPr marL="1214120">
              <a:lnSpc>
                <a:spcPct val="100000"/>
              </a:lnSpc>
              <a:spcBef>
                <a:spcPts val="215"/>
              </a:spcBef>
            </a:pP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showcase</a:t>
            </a: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their</a:t>
            </a:r>
            <a:r>
              <a:rPr sz="1200" spc="-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work.</a:t>
            </a:r>
            <a:r>
              <a:rPr sz="1200" spc="-7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Solving</a:t>
            </a:r>
            <a:r>
              <a:rPr sz="1200" spc="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this</a:t>
            </a: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problem</a:t>
            </a:r>
            <a:r>
              <a:rPr sz="1200" spc="-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benefits</a:t>
            </a:r>
            <a:r>
              <a:rPr sz="1200" spc="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music</a:t>
            </a: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11111"/>
                </a:solidFill>
                <a:latin typeface="Arial"/>
                <a:cs typeface="Arial"/>
              </a:rPr>
              <a:t>enthusiasts</a:t>
            </a:r>
            <a:r>
              <a:rPr sz="1200" spc="6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200" spc="-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artists</a:t>
            </a:r>
            <a:r>
              <a:rPr sz="1200" spc="-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11111"/>
                </a:solidFill>
                <a:latin typeface="Arial"/>
                <a:cs typeface="Arial"/>
              </a:rPr>
              <a:t>alike.</a:t>
            </a:r>
            <a:endParaRPr sz="12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285"/>
              </a:spcBef>
              <a:buClr>
                <a:srgbClr val="000000"/>
              </a:buClr>
              <a:buAutoNum type="arabicPeriod" startAt="2"/>
              <a:tabLst>
                <a:tab pos="298450" algn="l"/>
              </a:tabLst>
            </a:pPr>
            <a:r>
              <a:rPr sz="1200" b="1" spc="-10" dirty="0">
                <a:solidFill>
                  <a:srgbClr val="111111"/>
                </a:solidFill>
                <a:latin typeface="Arial"/>
                <a:cs typeface="Arial"/>
              </a:rPr>
              <a:t>High-</a:t>
            </a:r>
            <a:r>
              <a:rPr sz="1200" b="1" dirty="0">
                <a:solidFill>
                  <a:srgbClr val="111111"/>
                </a:solidFill>
                <a:latin typeface="Arial"/>
                <a:cs typeface="Arial"/>
              </a:rPr>
              <a:t>Level</a:t>
            </a:r>
            <a:r>
              <a:rPr sz="1200" b="1" spc="-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111111"/>
                </a:solidFill>
                <a:latin typeface="Arial"/>
                <a:cs typeface="Arial"/>
              </a:rPr>
              <a:t>Approach</a:t>
            </a:r>
            <a:r>
              <a:rPr sz="1200" spc="-1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endParaRPr sz="12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9"/>
              </a:spcBef>
              <a:buFont typeface="Arial"/>
              <a:buAutoNum type="arabicPeriod" startAt="2"/>
            </a:pPr>
            <a:endParaRPr sz="1200">
              <a:latin typeface="Arial"/>
              <a:cs typeface="Arial"/>
            </a:endParaRPr>
          </a:p>
          <a:p>
            <a:pPr marL="1214120" lvl="1" indent="-286385">
              <a:lnSpc>
                <a:spcPct val="100000"/>
              </a:lnSpc>
              <a:buClr>
                <a:srgbClr val="000000"/>
              </a:buClr>
              <a:buFont typeface="Arial"/>
              <a:buChar char="○"/>
              <a:tabLst>
                <a:tab pos="1214120" algn="l"/>
              </a:tabLst>
            </a:pPr>
            <a:r>
              <a:rPr sz="1200" b="1" dirty="0">
                <a:solidFill>
                  <a:srgbClr val="111111"/>
                </a:solidFill>
                <a:latin typeface="Arial"/>
                <a:cs typeface="Arial"/>
              </a:rPr>
              <a:t>User</a:t>
            </a:r>
            <a:r>
              <a:rPr sz="1200" b="1" spc="-8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11111"/>
                </a:solidFill>
                <a:latin typeface="Arial"/>
                <a:cs typeface="Arial"/>
              </a:rPr>
              <a:t>Registration</a:t>
            </a:r>
            <a:r>
              <a:rPr sz="1200" b="1" spc="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200" b="1" spc="-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111111"/>
                </a:solidFill>
                <a:latin typeface="Arial"/>
                <a:cs typeface="Arial"/>
              </a:rPr>
              <a:t>Login</a:t>
            </a:r>
            <a:r>
              <a:rPr sz="1200" spc="-1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endParaRPr sz="12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15"/>
              </a:spcBef>
              <a:buFont typeface="Arial"/>
              <a:buChar char="○"/>
            </a:pPr>
            <a:endParaRPr sz="1200">
              <a:latin typeface="Arial"/>
              <a:cs typeface="Arial"/>
            </a:endParaRPr>
          </a:p>
          <a:p>
            <a:pPr marL="1671320" lvl="2" indent="-285750">
              <a:lnSpc>
                <a:spcPct val="100000"/>
              </a:lnSpc>
              <a:buClr>
                <a:srgbClr val="000000"/>
              </a:buClr>
              <a:buChar char="■"/>
              <a:tabLst>
                <a:tab pos="1671320" algn="l"/>
              </a:tabLst>
            </a:pPr>
            <a:r>
              <a:rPr sz="1200" spc="-10" dirty="0">
                <a:solidFill>
                  <a:srgbClr val="111111"/>
                </a:solidFill>
                <a:latin typeface="Arial"/>
                <a:cs typeface="Arial"/>
              </a:rPr>
              <a:t>Implement</a:t>
            </a:r>
            <a:r>
              <a:rPr sz="1200" spc="1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user</a:t>
            </a:r>
            <a:r>
              <a:rPr sz="1200" spc="-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registration</a:t>
            </a:r>
            <a:r>
              <a:rPr sz="1200" spc="-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200" spc="-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login</a:t>
            </a:r>
            <a:r>
              <a:rPr sz="1200" spc="-8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11111"/>
                </a:solidFill>
                <a:latin typeface="Arial"/>
                <a:cs typeface="Arial"/>
              </a:rPr>
              <a:t>functionality.</a:t>
            </a:r>
            <a:endParaRPr sz="120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484"/>
              </a:spcBef>
              <a:buFont typeface="Arial"/>
              <a:buChar char="■"/>
            </a:pPr>
            <a:endParaRPr sz="1200">
              <a:latin typeface="Arial"/>
              <a:cs typeface="Arial"/>
            </a:endParaRPr>
          </a:p>
          <a:p>
            <a:pPr marL="1671320" lvl="2" indent="-285750">
              <a:lnSpc>
                <a:spcPct val="100000"/>
              </a:lnSpc>
              <a:buClr>
                <a:srgbClr val="000000"/>
              </a:buClr>
              <a:buChar char="■"/>
              <a:tabLst>
                <a:tab pos="1671320" algn="l"/>
              </a:tabLst>
            </a:pP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Create</a:t>
            </a:r>
            <a:r>
              <a:rPr sz="1200" spc="-8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user </a:t>
            </a:r>
            <a:r>
              <a:rPr sz="1200" spc="-10" dirty="0">
                <a:solidFill>
                  <a:srgbClr val="111111"/>
                </a:solidFill>
                <a:latin typeface="Arial"/>
                <a:cs typeface="Arial"/>
              </a:rPr>
              <a:t>accounts</a:t>
            </a:r>
            <a:r>
              <a:rPr sz="1200" spc="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200" spc="-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securely</a:t>
            </a:r>
            <a:r>
              <a:rPr sz="1200" spc="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manage</a:t>
            </a:r>
            <a:r>
              <a:rPr sz="1200" spc="-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11111"/>
                </a:solidFill>
                <a:latin typeface="Arial"/>
                <a:cs typeface="Arial"/>
              </a:rPr>
              <a:t>authentication.</a:t>
            </a:r>
            <a:endParaRPr sz="120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409"/>
              </a:spcBef>
              <a:buFont typeface="Arial"/>
              <a:buChar char="■"/>
            </a:pPr>
            <a:endParaRPr sz="1200">
              <a:latin typeface="Arial"/>
              <a:cs typeface="Arial"/>
            </a:endParaRPr>
          </a:p>
          <a:p>
            <a:pPr marL="1214120" lvl="1" indent="-286385">
              <a:lnSpc>
                <a:spcPct val="100000"/>
              </a:lnSpc>
              <a:buClr>
                <a:srgbClr val="000000"/>
              </a:buClr>
              <a:buFont typeface="Arial"/>
              <a:buChar char="○"/>
              <a:tabLst>
                <a:tab pos="1214120" algn="l"/>
              </a:tabLst>
            </a:pPr>
            <a:r>
              <a:rPr sz="1200" b="1" dirty="0">
                <a:solidFill>
                  <a:srgbClr val="111111"/>
                </a:solidFill>
                <a:latin typeface="Arial"/>
                <a:cs typeface="Arial"/>
              </a:rPr>
              <a:t>Song</a:t>
            </a:r>
            <a:r>
              <a:rPr sz="1200" b="1" spc="-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111111"/>
                </a:solidFill>
                <a:latin typeface="Arial"/>
                <a:cs typeface="Arial"/>
              </a:rPr>
              <a:t>Management</a:t>
            </a:r>
            <a:r>
              <a:rPr sz="1200" spc="-1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endParaRPr sz="12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84"/>
              </a:spcBef>
              <a:buFont typeface="Arial"/>
              <a:buChar char="○"/>
            </a:pPr>
            <a:endParaRPr sz="1200">
              <a:latin typeface="Arial"/>
              <a:cs typeface="Arial"/>
            </a:endParaRPr>
          </a:p>
          <a:p>
            <a:pPr marL="1671320" lvl="2" indent="-285750">
              <a:lnSpc>
                <a:spcPct val="100000"/>
              </a:lnSpc>
              <a:buClr>
                <a:srgbClr val="000000"/>
              </a:buClr>
              <a:buChar char="■"/>
              <a:tabLst>
                <a:tab pos="1671320" algn="l"/>
              </a:tabLst>
            </a:pP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Develop a</a:t>
            </a:r>
            <a:r>
              <a:rPr sz="1200" spc="-6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search</a:t>
            </a:r>
            <a:r>
              <a:rPr sz="1200" spc="-6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feature</a:t>
            </a:r>
            <a:r>
              <a:rPr sz="1200" spc="1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for</a:t>
            </a:r>
            <a:r>
              <a:rPr sz="1200" spc="-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songs</a:t>
            </a:r>
            <a:r>
              <a:rPr sz="1200" spc="-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based</a:t>
            </a:r>
            <a:r>
              <a:rPr sz="1200" spc="-6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on</a:t>
            </a:r>
            <a:r>
              <a:rPr sz="1200" spc="-6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user</a:t>
            </a:r>
            <a:r>
              <a:rPr sz="1200" spc="-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11111"/>
                </a:solidFill>
                <a:latin typeface="Arial"/>
                <a:cs typeface="Arial"/>
              </a:rPr>
              <a:t>preferences.</a:t>
            </a:r>
            <a:endParaRPr sz="1200">
              <a:latin typeface="Arial"/>
              <a:cs typeface="Arial"/>
            </a:endParaRPr>
          </a:p>
          <a:p>
            <a:pPr lvl="2">
              <a:lnSpc>
                <a:spcPct val="100000"/>
              </a:lnSpc>
              <a:spcBef>
                <a:spcPts val="610"/>
              </a:spcBef>
            </a:pPr>
            <a:endParaRPr sz="1200">
              <a:latin typeface="Arial"/>
              <a:cs typeface="Arial"/>
            </a:endParaRPr>
          </a:p>
          <a:p>
            <a:pPr marL="1671320" lvl="2" indent="-285750">
              <a:lnSpc>
                <a:spcPct val="100000"/>
              </a:lnSpc>
              <a:buClr>
                <a:srgbClr val="000000"/>
              </a:buClr>
              <a:buChar char="■"/>
              <a:tabLst>
                <a:tab pos="1671320" algn="l"/>
              </a:tabLst>
            </a:pP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Utilize</a:t>
            </a:r>
            <a:r>
              <a:rPr sz="1200" spc="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an</a:t>
            </a:r>
            <a:r>
              <a:rPr sz="1200" spc="-7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spc="-10" dirty="0">
                <a:solidFill>
                  <a:srgbClr val="111111"/>
                </a:solidFill>
                <a:latin typeface="Arial"/>
                <a:cs typeface="Arial"/>
              </a:rPr>
              <a:t>external</a:t>
            </a:r>
            <a:r>
              <a:rPr sz="1200" spc="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API</a:t>
            </a:r>
            <a:r>
              <a:rPr sz="1200" spc="-8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(e.g.,</a:t>
            </a:r>
            <a:r>
              <a:rPr sz="1200" spc="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Last.fm</a:t>
            </a:r>
            <a:r>
              <a:rPr sz="1200" spc="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or</a:t>
            </a:r>
            <a:r>
              <a:rPr sz="1200" spc="-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Spotify)</a:t>
            </a:r>
            <a:r>
              <a:rPr sz="1200" spc="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to</a:t>
            </a:r>
            <a:r>
              <a:rPr sz="1200" spc="-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fetch</a:t>
            </a:r>
            <a:r>
              <a:rPr sz="1200" spc="-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dirty="0">
                <a:solidFill>
                  <a:srgbClr val="111111"/>
                </a:solidFill>
                <a:latin typeface="Arial"/>
                <a:cs typeface="Arial"/>
              </a:rPr>
              <a:t>song</a:t>
            </a:r>
            <a:r>
              <a:rPr sz="1200" spc="-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200" spc="-20" dirty="0">
                <a:solidFill>
                  <a:srgbClr val="111111"/>
                </a:solidFill>
                <a:latin typeface="Arial"/>
                <a:cs typeface="Arial"/>
              </a:rPr>
              <a:t>data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100"/>
              </a:spcBef>
            </a:pPr>
            <a:r>
              <a:rPr dirty="0"/>
              <a:t>Next</a:t>
            </a:r>
            <a:r>
              <a:rPr spc="50" dirty="0"/>
              <a:t> </a:t>
            </a:r>
            <a:r>
              <a:rPr dirty="0"/>
              <a:t>Gen</a:t>
            </a:r>
            <a:r>
              <a:rPr spc="-35" dirty="0"/>
              <a:t> </a:t>
            </a:r>
            <a:r>
              <a:rPr dirty="0"/>
              <a:t>Employability</a:t>
            </a:r>
            <a:r>
              <a:rPr spc="-130" dirty="0"/>
              <a:t> </a:t>
            </a:r>
            <a:r>
              <a:rPr spc="-10" dirty="0"/>
              <a:t>Program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61950" y="514413"/>
            <a:ext cx="8143875" cy="4243705"/>
          </a:xfrm>
          <a:prstGeom prst="rect">
            <a:avLst/>
          </a:prstGeom>
        </p:spPr>
        <p:txBody>
          <a:bodyPr vert="horz" wrap="square" lIns="0" tIns="12319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70"/>
              </a:spcBef>
              <a:buClr>
                <a:srgbClr val="000000"/>
              </a:buClr>
              <a:buFont typeface="Arial"/>
              <a:buChar char="•"/>
              <a:tabLst>
                <a:tab pos="298450" algn="l"/>
              </a:tabLst>
            </a:pP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Song</a:t>
            </a:r>
            <a:r>
              <a:rPr sz="1400" b="1" spc="-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Details</a:t>
            </a:r>
            <a:r>
              <a:rPr sz="1400" b="1" spc="-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400" b="1" spc="-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11111"/>
                </a:solidFill>
                <a:latin typeface="Arial"/>
                <a:cs typeface="Arial"/>
              </a:rPr>
              <a:t>Images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875"/>
              </a:spcBef>
              <a:buClr>
                <a:srgbClr val="000000"/>
              </a:buClr>
              <a:buFont typeface="Courier New"/>
              <a:buChar char="o"/>
              <a:tabLst>
                <a:tab pos="298450" algn="l"/>
              </a:tabLst>
            </a:pP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Display</a:t>
            </a:r>
            <a:r>
              <a:rPr sz="1400" spc="-1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song</a:t>
            </a:r>
            <a:r>
              <a:rPr sz="1400" spc="-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details</a:t>
            </a:r>
            <a:r>
              <a:rPr sz="1400" spc="-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(title,</a:t>
            </a:r>
            <a:r>
              <a:rPr sz="1400" spc="-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artist,</a:t>
            </a:r>
            <a:r>
              <a:rPr sz="1400" spc="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album)</a:t>
            </a:r>
            <a:r>
              <a:rPr sz="1400" spc="-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along</a:t>
            </a:r>
            <a:r>
              <a:rPr sz="1400" spc="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with</a:t>
            </a:r>
            <a:r>
              <a:rPr sz="1400" spc="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corresponding</a:t>
            </a:r>
            <a:r>
              <a:rPr sz="1400" spc="-1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images.</a:t>
            </a:r>
            <a:endParaRPr sz="14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Clr>
                <a:srgbClr val="000000"/>
              </a:buClr>
              <a:buFont typeface="Courier New"/>
              <a:buChar char="o"/>
              <a:tabLst>
                <a:tab pos="240665" algn="l"/>
              </a:tabLst>
            </a:pP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Enable</a:t>
            </a:r>
            <a:r>
              <a:rPr sz="1400" spc="-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users</a:t>
            </a:r>
            <a:r>
              <a:rPr sz="1400" spc="-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to</a:t>
            </a:r>
            <a:r>
              <a:rPr sz="1400" spc="-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play</a:t>
            </a:r>
            <a:r>
              <a:rPr sz="1400" spc="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songs</a:t>
            </a:r>
            <a:r>
              <a:rPr sz="1400" spc="-10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directly</a:t>
            </a:r>
            <a:r>
              <a:rPr sz="1400" spc="-10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from</a:t>
            </a:r>
            <a:r>
              <a:rPr sz="1400" spc="-1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sz="1400" spc="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web</a:t>
            </a:r>
            <a:r>
              <a:rPr sz="1400" spc="-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application.</a:t>
            </a:r>
            <a:endParaRPr sz="14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875"/>
              </a:spcBef>
              <a:buClr>
                <a:srgbClr val="000000"/>
              </a:buClr>
              <a:buFont typeface="Arial"/>
              <a:buChar char="•"/>
              <a:tabLst>
                <a:tab pos="298450" algn="l"/>
              </a:tabLst>
            </a:pP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Admin</a:t>
            </a:r>
            <a:r>
              <a:rPr sz="1400" b="1" spc="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Panel</a:t>
            </a:r>
            <a:r>
              <a:rPr sz="1400" b="1" spc="-1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11111"/>
                </a:solidFill>
                <a:latin typeface="Arial"/>
                <a:cs typeface="Arial"/>
              </a:rPr>
              <a:t>Integration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875"/>
              </a:spcBef>
              <a:buClr>
                <a:srgbClr val="000000"/>
              </a:buClr>
              <a:buFont typeface="Courier New"/>
              <a:buChar char="o"/>
              <a:tabLst>
                <a:tab pos="240665" algn="l"/>
              </a:tabLst>
            </a:pP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Use</a:t>
            </a:r>
            <a:r>
              <a:rPr sz="1400" spc="-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Django’s</a:t>
            </a:r>
            <a:r>
              <a:rPr sz="1400" spc="-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admin</a:t>
            </a:r>
            <a:r>
              <a:rPr sz="1400" spc="-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panel</a:t>
            </a:r>
            <a:r>
              <a:rPr sz="1400" spc="-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for</a:t>
            </a:r>
            <a:r>
              <a:rPr sz="1400" spc="-7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managing</a:t>
            </a:r>
            <a:r>
              <a:rPr sz="1400" spc="7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users,</a:t>
            </a:r>
            <a:r>
              <a:rPr sz="1400" spc="-7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songs,</a:t>
            </a:r>
            <a:r>
              <a:rPr sz="1400" spc="-1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400" spc="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other</a:t>
            </a:r>
            <a:r>
              <a:rPr sz="1400" spc="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app-related</a:t>
            </a:r>
            <a:r>
              <a:rPr sz="1400" spc="-9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data.</a:t>
            </a:r>
            <a:endParaRPr sz="14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800"/>
              </a:spcBef>
              <a:buClr>
                <a:srgbClr val="000000"/>
              </a:buClr>
              <a:buFont typeface="Courier New"/>
              <a:buChar char="o"/>
              <a:tabLst>
                <a:tab pos="298450" algn="l"/>
              </a:tabLst>
            </a:pP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Implementation</a:t>
            </a:r>
            <a:r>
              <a:rPr sz="1400" spc="-1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Steps:</a:t>
            </a:r>
            <a:endParaRPr sz="14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spcBef>
                <a:spcPts val="869"/>
              </a:spcBef>
              <a:buClr>
                <a:srgbClr val="000000"/>
              </a:buClr>
              <a:buFont typeface="Arial"/>
              <a:buChar char="•"/>
              <a:tabLst>
                <a:tab pos="298450" algn="l"/>
              </a:tabLst>
            </a:pP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Project</a:t>
            </a:r>
            <a:r>
              <a:rPr sz="1400" b="1" spc="-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11111"/>
                </a:solidFill>
                <a:latin typeface="Arial"/>
                <a:cs typeface="Arial"/>
              </a:rPr>
              <a:t>Setup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Clr>
                <a:srgbClr val="000000"/>
              </a:buClr>
              <a:buFont typeface="Courier New"/>
              <a:buChar char="o"/>
              <a:tabLst>
                <a:tab pos="240665" algn="l"/>
              </a:tabLst>
            </a:pP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Create</a:t>
            </a:r>
            <a:r>
              <a:rPr sz="1400" spc="-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</a:t>
            </a:r>
            <a:r>
              <a:rPr sz="1400" spc="-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new</a:t>
            </a:r>
            <a:r>
              <a:rPr sz="1400" spc="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Django</a:t>
            </a:r>
            <a:r>
              <a:rPr sz="1400" spc="-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project</a:t>
            </a:r>
            <a:r>
              <a:rPr sz="1400" spc="-16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(music_player_project).</a:t>
            </a:r>
            <a:endParaRPr sz="1400">
              <a:latin typeface="Arial"/>
              <a:cs typeface="Arial"/>
            </a:endParaRPr>
          </a:p>
          <a:p>
            <a:pPr marL="240665" indent="-227965">
              <a:lnSpc>
                <a:spcPct val="100000"/>
              </a:lnSpc>
              <a:spcBef>
                <a:spcPts val="875"/>
              </a:spcBef>
              <a:buClr>
                <a:srgbClr val="000000"/>
              </a:buClr>
              <a:buFont typeface="Courier New"/>
              <a:buChar char="o"/>
              <a:tabLst>
                <a:tab pos="240665" algn="l"/>
              </a:tabLst>
            </a:pP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Set</a:t>
            </a:r>
            <a:r>
              <a:rPr sz="1400" spc="-8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up</a:t>
            </a:r>
            <a:r>
              <a:rPr sz="1400" spc="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necessary</a:t>
            </a:r>
            <a:r>
              <a:rPr sz="1400" spc="-18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folders</a:t>
            </a:r>
            <a:r>
              <a:rPr sz="1400" spc="-9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400" spc="-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apps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(e.g.,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api</a:t>
            </a:r>
            <a:r>
              <a:rPr sz="1400" spc="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400" spc="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music_player_app).</a:t>
            </a:r>
            <a:endParaRPr sz="1400">
              <a:latin typeface="Arial"/>
              <a:cs typeface="Arial"/>
            </a:endParaRPr>
          </a:p>
          <a:p>
            <a:pPr marL="184785" indent="-172085">
              <a:lnSpc>
                <a:spcPct val="100000"/>
              </a:lnSpc>
              <a:spcBef>
                <a:spcPts val="350"/>
              </a:spcBef>
              <a:buClr>
                <a:srgbClr val="000000"/>
              </a:buClr>
              <a:buFont typeface="Courier New"/>
              <a:buChar char="o"/>
              <a:tabLst>
                <a:tab pos="184785" algn="l"/>
              </a:tabLst>
            </a:pPr>
            <a:r>
              <a:rPr sz="1200" b="1" dirty="0">
                <a:solidFill>
                  <a:srgbClr val="111111"/>
                </a:solidFill>
                <a:latin typeface="Arial"/>
                <a:cs typeface="Arial"/>
              </a:rPr>
              <a:t>D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ata</a:t>
            </a:r>
            <a:r>
              <a:rPr sz="1400" b="1" spc="-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11111"/>
                </a:solidFill>
                <a:latin typeface="Arial"/>
                <a:cs typeface="Arial"/>
              </a:rPr>
              <a:t>Models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00">
              <a:latin typeface="Arial"/>
              <a:cs typeface="Arial"/>
            </a:endParaRPr>
          </a:p>
          <a:p>
            <a:pPr marL="298450" indent="-285750">
              <a:lnSpc>
                <a:spcPct val="100000"/>
              </a:lnSpc>
              <a:buClr>
                <a:srgbClr val="000000"/>
              </a:buClr>
              <a:buChar char="•"/>
              <a:tabLst>
                <a:tab pos="298450" algn="l"/>
              </a:tabLst>
            </a:pP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Define</a:t>
            </a:r>
            <a:r>
              <a:rPr sz="1400" spc="-1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</a:t>
            </a:r>
            <a:r>
              <a:rPr sz="1400" spc="-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Song</a:t>
            </a:r>
            <a:r>
              <a:rPr sz="1400" spc="-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model</a:t>
            </a:r>
            <a:r>
              <a:rPr sz="1400" spc="-1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in</a:t>
            </a:r>
            <a:r>
              <a:rPr sz="1400" spc="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sz="1400" spc="6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api app</a:t>
            </a:r>
            <a:r>
              <a:rPr sz="1400" spc="-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with</a:t>
            </a:r>
            <a:r>
              <a:rPr sz="1400" spc="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fields</a:t>
            </a:r>
            <a:r>
              <a:rPr sz="1400" spc="-1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for</a:t>
            </a:r>
            <a:r>
              <a:rPr sz="1400" spc="-9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title,</a:t>
            </a:r>
            <a:r>
              <a:rPr sz="1400" spc="-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category,</a:t>
            </a:r>
            <a:r>
              <a:rPr sz="1400" spc="-9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artist,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audio</a:t>
            </a:r>
            <a:r>
              <a:rPr sz="1400" spc="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file,</a:t>
            </a:r>
            <a:r>
              <a:rPr sz="1400" spc="-9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400" spc="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audio</a:t>
            </a:r>
            <a:r>
              <a:rPr sz="1400" spc="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image.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1400">
              <a:latin typeface="Arial"/>
              <a:cs typeface="Arial"/>
            </a:endParaRPr>
          </a:p>
          <a:p>
            <a:pPr marL="298450" marR="5080" indent="-286385">
              <a:lnSpc>
                <a:spcPct val="102800"/>
              </a:lnSpc>
              <a:buClr>
                <a:srgbClr val="000000"/>
              </a:buClr>
              <a:buFont typeface="Courier New"/>
              <a:buChar char="o"/>
              <a:tabLst>
                <a:tab pos="298450" algn="l"/>
              </a:tabLst>
            </a:pP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Extend</a:t>
            </a:r>
            <a:r>
              <a:rPr sz="1400" spc="-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sz="1400" spc="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11111"/>
                </a:solidFill>
                <a:latin typeface="Arial"/>
                <a:cs typeface="Arial"/>
              </a:rPr>
              <a:t>default</a:t>
            </a:r>
            <a:r>
              <a:rPr sz="1400" spc="-10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Django</a:t>
            </a:r>
            <a:r>
              <a:rPr sz="1400" spc="-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11111"/>
                </a:solidFill>
                <a:latin typeface="Arial"/>
                <a:cs typeface="Arial"/>
              </a:rPr>
              <a:t>user</a:t>
            </a:r>
            <a:r>
              <a:rPr sz="1400" spc="-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11111"/>
                </a:solidFill>
                <a:latin typeface="Arial"/>
                <a:cs typeface="Arial"/>
              </a:rPr>
              <a:t>model</a:t>
            </a:r>
            <a:r>
              <a:rPr sz="1400" spc="-1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11111"/>
                </a:solidFill>
                <a:latin typeface="Arial"/>
                <a:cs typeface="Arial"/>
              </a:rPr>
              <a:t>in</a:t>
            </a:r>
            <a:r>
              <a:rPr sz="1400" spc="-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sz="1400" spc="9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11111"/>
                </a:solidFill>
                <a:latin typeface="Arial"/>
                <a:cs typeface="Arial"/>
              </a:rPr>
              <a:t>music_player_appapp</a:t>
            </a:r>
            <a:r>
              <a:rPr sz="1400" spc="-1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11111"/>
                </a:solidFill>
                <a:latin typeface="Arial"/>
                <a:cs typeface="Arial"/>
              </a:rPr>
              <a:t>to</a:t>
            </a:r>
            <a:r>
              <a:rPr sz="1400" spc="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include</a:t>
            </a:r>
            <a:r>
              <a:rPr sz="1400" spc="-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additional</a:t>
            </a:r>
            <a:r>
              <a:rPr sz="1400" spc="-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11111"/>
                </a:solidFill>
                <a:latin typeface="Arial"/>
                <a:cs typeface="Arial"/>
              </a:rPr>
              <a:t>fields</a:t>
            </a:r>
            <a:r>
              <a:rPr sz="1400" spc="-114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(e.g.,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groups,</a:t>
            </a:r>
            <a:r>
              <a:rPr sz="1400" spc="-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permissions).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100"/>
              </a:spcBef>
            </a:pPr>
            <a:r>
              <a:rPr dirty="0"/>
              <a:t>Next</a:t>
            </a:r>
            <a:r>
              <a:rPr spc="50" dirty="0"/>
              <a:t> </a:t>
            </a:r>
            <a:r>
              <a:rPr dirty="0"/>
              <a:t>Gen</a:t>
            </a:r>
            <a:r>
              <a:rPr spc="-35" dirty="0"/>
              <a:t> </a:t>
            </a:r>
            <a:r>
              <a:rPr dirty="0"/>
              <a:t>Employability</a:t>
            </a:r>
            <a:r>
              <a:rPr spc="-130" dirty="0"/>
              <a:t> </a:t>
            </a:r>
            <a:r>
              <a:rPr spc="-10" dirty="0"/>
              <a:t>Program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65112" y="552707"/>
            <a:ext cx="6108065" cy="3881754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298450" indent="-285750">
              <a:lnSpc>
                <a:spcPct val="100000"/>
              </a:lnSpc>
              <a:spcBef>
                <a:spcPts val="969"/>
              </a:spcBef>
              <a:buClr>
                <a:srgbClr val="000000"/>
              </a:buClr>
              <a:buFont typeface="Arial"/>
              <a:buChar char="•"/>
              <a:tabLst>
                <a:tab pos="298450" algn="l"/>
              </a:tabLst>
            </a:pP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User</a:t>
            </a:r>
            <a:r>
              <a:rPr sz="1400" b="1" spc="-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11111"/>
                </a:solidFill>
                <a:latin typeface="Arial"/>
                <a:cs typeface="Arial"/>
              </a:rPr>
              <a:t>Actions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584200" lvl="1" indent="-285750">
              <a:lnSpc>
                <a:spcPct val="100000"/>
              </a:lnSpc>
              <a:spcBef>
                <a:spcPts val="875"/>
              </a:spcBef>
              <a:buClr>
                <a:srgbClr val="000000"/>
              </a:buClr>
              <a:buFont typeface="Courier New"/>
              <a:buChar char="o"/>
              <a:tabLst>
                <a:tab pos="584200" algn="l"/>
              </a:tabLst>
            </a:pP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Allow</a:t>
            </a:r>
            <a:r>
              <a:rPr sz="1400" spc="-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users</a:t>
            </a:r>
            <a:r>
              <a:rPr sz="1400" spc="-1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to</a:t>
            </a:r>
            <a:r>
              <a:rPr sz="1400" spc="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add</a:t>
            </a:r>
            <a:r>
              <a:rPr sz="1400" spc="-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songs</a:t>
            </a:r>
            <a:r>
              <a:rPr sz="1400" spc="-10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to</a:t>
            </a:r>
            <a:r>
              <a:rPr sz="1400" spc="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their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 playlist.</a:t>
            </a:r>
            <a:endParaRPr sz="1400"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  <a:spcBef>
                <a:spcPts val="800"/>
              </a:spcBef>
            </a:pPr>
            <a:r>
              <a:rPr sz="1400" dirty="0">
                <a:latin typeface="Courier New"/>
                <a:cs typeface="Courier New"/>
              </a:rPr>
              <a:t>o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Enable</a:t>
            </a:r>
            <a:r>
              <a:rPr sz="1400" spc="-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song</a:t>
            </a:r>
            <a:r>
              <a:rPr sz="1400" spc="-6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playback</a:t>
            </a:r>
            <a:r>
              <a:rPr sz="1400" spc="-1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directly</a:t>
            </a:r>
            <a:r>
              <a:rPr sz="1400" spc="-1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within</a:t>
            </a:r>
            <a:r>
              <a:rPr sz="1400" spc="8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sz="1400" spc="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111111"/>
                </a:solidFill>
                <a:latin typeface="Arial"/>
                <a:cs typeface="Arial"/>
              </a:rPr>
              <a:t>app.</a:t>
            </a:r>
            <a:endParaRPr sz="1400">
              <a:latin typeface="Arial"/>
              <a:cs typeface="Arial"/>
            </a:endParaRPr>
          </a:p>
          <a:p>
            <a:pPr marL="584200" lvl="1" indent="-285750">
              <a:lnSpc>
                <a:spcPct val="100000"/>
              </a:lnSpc>
              <a:spcBef>
                <a:spcPts val="875"/>
              </a:spcBef>
              <a:buClr>
                <a:srgbClr val="000000"/>
              </a:buClr>
              <a:buFont typeface="Courier New"/>
              <a:buChar char="o"/>
              <a:tabLst>
                <a:tab pos="584200" algn="l"/>
              </a:tabLst>
            </a:pP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Admin</a:t>
            </a:r>
            <a:r>
              <a:rPr sz="1400" b="1" spc="-6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11111"/>
                </a:solidFill>
                <a:latin typeface="Arial"/>
                <a:cs typeface="Arial"/>
              </a:rPr>
              <a:t>Panel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  <a:spcBef>
                <a:spcPts val="875"/>
              </a:spcBef>
            </a:pPr>
            <a:r>
              <a:rPr sz="1400" dirty="0">
                <a:latin typeface="Courier New"/>
                <a:cs typeface="Courier New"/>
              </a:rPr>
              <a:t>o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Use</a:t>
            </a:r>
            <a:r>
              <a:rPr sz="1400" spc="-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Django’s</a:t>
            </a:r>
            <a:r>
              <a:rPr sz="1400" spc="-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built-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in</a:t>
            </a:r>
            <a:r>
              <a:rPr sz="1400" spc="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admin</a:t>
            </a:r>
            <a:r>
              <a:rPr sz="1400" spc="-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panel</a:t>
            </a:r>
            <a:r>
              <a:rPr sz="1400" spc="-9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for</a:t>
            </a:r>
            <a:r>
              <a:rPr sz="1400" spc="-10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managing</a:t>
            </a:r>
            <a:r>
              <a:rPr sz="1400" spc="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users</a:t>
            </a:r>
            <a:r>
              <a:rPr sz="1400" spc="-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400" spc="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songs.</a:t>
            </a:r>
            <a:endParaRPr sz="1400">
              <a:latin typeface="Arial"/>
              <a:cs typeface="Arial"/>
            </a:endParaRPr>
          </a:p>
          <a:p>
            <a:pPr marL="346075">
              <a:lnSpc>
                <a:spcPct val="100000"/>
              </a:lnSpc>
              <a:spcBef>
                <a:spcPts val="800"/>
              </a:spcBef>
            </a:pP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4.Risk</a:t>
            </a:r>
            <a:r>
              <a:rPr sz="1400" b="1" spc="6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Assessment</a:t>
            </a:r>
            <a:r>
              <a:rPr sz="1400" b="1" spc="-1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400" b="1" spc="-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11111"/>
                </a:solidFill>
                <a:latin typeface="Arial"/>
                <a:cs typeface="Arial"/>
              </a:rPr>
              <a:t>Mitigation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584200" indent="-285750">
              <a:lnSpc>
                <a:spcPct val="100000"/>
              </a:lnSpc>
              <a:spcBef>
                <a:spcPts val="875"/>
              </a:spcBef>
              <a:buClr>
                <a:srgbClr val="000000"/>
              </a:buClr>
              <a:buFont typeface="Arial"/>
              <a:buChar char="•"/>
              <a:tabLst>
                <a:tab pos="584200" algn="l"/>
              </a:tabLst>
            </a:pP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Technical</a:t>
            </a:r>
            <a:r>
              <a:rPr sz="1400" b="1" spc="-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11111"/>
                </a:solidFill>
                <a:latin typeface="Arial"/>
                <a:cs typeface="Arial"/>
              </a:rPr>
              <a:t>Risks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  <a:spcBef>
                <a:spcPts val="800"/>
              </a:spcBef>
            </a:pPr>
            <a:r>
              <a:rPr sz="1400" dirty="0">
                <a:latin typeface="Courier New"/>
                <a:cs typeface="Courier New"/>
              </a:rPr>
              <a:t>o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Ensure</a:t>
            </a:r>
            <a:r>
              <a:rPr sz="1400" spc="-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robust</a:t>
            </a:r>
            <a:r>
              <a:rPr sz="1400" spc="-9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error</a:t>
            </a:r>
            <a:r>
              <a:rPr sz="1400" spc="-9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handling</a:t>
            </a:r>
            <a:r>
              <a:rPr sz="1400" spc="1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for</a:t>
            </a:r>
            <a:r>
              <a:rPr sz="1400" spc="-8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API</a:t>
            </a:r>
            <a:r>
              <a:rPr sz="1400" spc="-9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requests</a:t>
            </a:r>
            <a:r>
              <a:rPr sz="1400" spc="-10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400" spc="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database</a:t>
            </a:r>
            <a:r>
              <a:rPr sz="1400" spc="-1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interactions.</a:t>
            </a:r>
            <a:endParaRPr sz="1400"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  <a:spcBef>
                <a:spcPts val="875"/>
              </a:spcBef>
            </a:pPr>
            <a:r>
              <a:rPr sz="1400" dirty="0">
                <a:latin typeface="Courier New"/>
                <a:cs typeface="Courier New"/>
              </a:rPr>
              <a:t>o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Regularly</a:t>
            </a:r>
            <a:r>
              <a:rPr sz="1400" spc="-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test</a:t>
            </a:r>
            <a:r>
              <a:rPr sz="1400" spc="-10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400" spc="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debug</a:t>
            </a:r>
            <a:r>
              <a:rPr sz="1400" spc="-1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sz="1400" spc="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application.</a:t>
            </a:r>
            <a:endParaRPr sz="1400">
              <a:latin typeface="Arial"/>
              <a:cs typeface="Arial"/>
            </a:endParaRPr>
          </a:p>
          <a:p>
            <a:pPr marL="364490" indent="-74295">
              <a:lnSpc>
                <a:spcPct val="100000"/>
              </a:lnSpc>
              <a:spcBef>
                <a:spcPts val="875"/>
              </a:spcBef>
              <a:buClr>
                <a:srgbClr val="000000"/>
              </a:buClr>
              <a:buFont typeface="Arial"/>
              <a:buChar char="•"/>
              <a:tabLst>
                <a:tab pos="364490" algn="l"/>
              </a:tabLst>
            </a:pP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User</a:t>
            </a:r>
            <a:r>
              <a:rPr sz="1400" b="1" spc="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Adoption</a:t>
            </a:r>
            <a:r>
              <a:rPr sz="1400" b="1" spc="-8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11111"/>
                </a:solidFill>
                <a:latin typeface="Arial"/>
                <a:cs typeface="Arial"/>
              </a:rPr>
              <a:t>Risks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  <a:spcBef>
                <a:spcPts val="800"/>
              </a:spcBef>
            </a:pPr>
            <a:r>
              <a:rPr sz="1400" dirty="0">
                <a:latin typeface="Courier New"/>
                <a:cs typeface="Courier New"/>
              </a:rPr>
              <a:t>o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Communicate</a:t>
            </a:r>
            <a:r>
              <a:rPr sz="1400" spc="-1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effectively</a:t>
            </a:r>
            <a:r>
              <a:rPr sz="1400" spc="-19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with</a:t>
            </a:r>
            <a:r>
              <a:rPr sz="1400" spc="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users</a:t>
            </a:r>
            <a:r>
              <a:rPr sz="1400" spc="-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during</a:t>
            </a:r>
            <a:r>
              <a:rPr sz="1400" spc="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registration</a:t>
            </a:r>
            <a:r>
              <a:rPr sz="1400" spc="-1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400" spc="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login.</a:t>
            </a:r>
            <a:endParaRPr sz="1400">
              <a:latin typeface="Arial"/>
              <a:cs typeface="Arial"/>
            </a:endParaRPr>
          </a:p>
          <a:p>
            <a:pPr marL="298450">
              <a:lnSpc>
                <a:spcPct val="100000"/>
              </a:lnSpc>
              <a:spcBef>
                <a:spcPts val="875"/>
              </a:spcBef>
            </a:pPr>
            <a:r>
              <a:rPr sz="1400" dirty="0">
                <a:latin typeface="Courier New"/>
                <a:cs typeface="Courier New"/>
              </a:rPr>
              <a:t>o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Provide</a:t>
            </a:r>
            <a:r>
              <a:rPr sz="1400" spc="-1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clear</a:t>
            </a:r>
            <a:r>
              <a:rPr sz="1400" spc="-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instructions</a:t>
            </a:r>
            <a:r>
              <a:rPr sz="1400" spc="-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for</a:t>
            </a:r>
            <a:r>
              <a:rPr sz="1400" spc="-8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using</a:t>
            </a:r>
            <a:r>
              <a:rPr sz="1400" spc="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sz="1400" spc="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app’s</a:t>
            </a:r>
            <a:r>
              <a:rPr sz="1400" spc="-10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features.</a:t>
            </a:r>
            <a:endParaRPr sz="1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763" y="4676775"/>
            <a:ext cx="9139555" cy="9525"/>
          </a:xfrm>
          <a:custGeom>
            <a:avLst/>
            <a:gdLst/>
            <a:ahLst/>
            <a:cxnLst/>
            <a:rect l="l" t="t" r="r" b="b"/>
            <a:pathLst>
              <a:path w="9139555" h="9525">
                <a:moveTo>
                  <a:pt x="0" y="9525"/>
                </a:moveTo>
                <a:lnTo>
                  <a:pt x="9139236" y="9525"/>
                </a:lnTo>
                <a:lnTo>
                  <a:pt x="9139236" y="0"/>
                </a:lnTo>
                <a:lnTo>
                  <a:pt x="0" y="0"/>
                </a:lnTo>
                <a:lnTo>
                  <a:pt x="0" y="9525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463" y="129857"/>
            <a:ext cx="72612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Next</a:t>
            </a:r>
            <a:r>
              <a:rPr sz="1800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Gen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Employability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Program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09867" y="762317"/>
            <a:ext cx="1703070" cy="2660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550" b="1" dirty="0">
                <a:solidFill>
                  <a:srgbClr val="203062"/>
                </a:solidFill>
                <a:latin typeface="Arial"/>
                <a:cs typeface="Arial"/>
              </a:rPr>
              <a:t>Technology</a:t>
            </a:r>
            <a:r>
              <a:rPr sz="1550" b="1" spc="175" dirty="0">
                <a:solidFill>
                  <a:srgbClr val="203062"/>
                </a:solidFill>
                <a:latin typeface="Arial"/>
                <a:cs typeface="Arial"/>
              </a:rPr>
              <a:t> </a:t>
            </a:r>
            <a:r>
              <a:rPr sz="1550" b="1" spc="-20" dirty="0">
                <a:solidFill>
                  <a:srgbClr val="203062"/>
                </a:solidFill>
                <a:latin typeface="Arial"/>
                <a:cs typeface="Arial"/>
              </a:rPr>
              <a:t>Used</a:t>
            </a:r>
            <a:endParaRPr sz="155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19175" y="1782770"/>
            <a:ext cx="2880557" cy="251300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62475" y="1714500"/>
            <a:ext cx="4171950" cy="2085975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2253360" y="1387093"/>
            <a:ext cx="803275" cy="2438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1400" spc="-10" dirty="0">
                <a:latin typeface="Arial"/>
                <a:cs typeface="Arial"/>
              </a:rPr>
              <a:t>Front-</a:t>
            </a:r>
            <a:r>
              <a:rPr sz="1400" spc="-25" dirty="0">
                <a:latin typeface="Arial"/>
                <a:cs typeface="Arial"/>
              </a:rPr>
              <a:t>end</a:t>
            </a:r>
            <a:endParaRPr sz="1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265926" y="1313497"/>
            <a:ext cx="78422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spc="-10" dirty="0">
                <a:latin typeface="Arial"/>
                <a:cs typeface="Arial"/>
              </a:rPr>
              <a:t>Back-</a:t>
            </a:r>
            <a:r>
              <a:rPr sz="1400" spc="-25" dirty="0">
                <a:latin typeface="Arial"/>
                <a:cs typeface="Arial"/>
              </a:rPr>
              <a:t>end</a:t>
            </a:r>
            <a:endParaRPr sz="14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763" y="4676775"/>
            <a:ext cx="9139555" cy="9525"/>
          </a:xfrm>
          <a:custGeom>
            <a:avLst/>
            <a:gdLst/>
            <a:ahLst/>
            <a:cxnLst/>
            <a:rect l="l" t="t" r="r" b="b"/>
            <a:pathLst>
              <a:path w="9139555" h="9525">
                <a:moveTo>
                  <a:pt x="0" y="9525"/>
                </a:moveTo>
                <a:lnTo>
                  <a:pt x="9139236" y="9525"/>
                </a:lnTo>
                <a:lnTo>
                  <a:pt x="9139236" y="0"/>
                </a:lnTo>
                <a:lnTo>
                  <a:pt x="0" y="0"/>
                </a:lnTo>
                <a:lnTo>
                  <a:pt x="0" y="9525"/>
                </a:lnTo>
                <a:close/>
              </a:path>
            </a:pathLst>
          </a:custGeom>
          <a:solidFill>
            <a:srgbClr val="BEBEB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17487" y="4800600"/>
            <a:ext cx="500380" cy="17462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950" dirty="0">
                <a:latin typeface="Arial"/>
                <a:cs typeface="Arial"/>
              </a:rPr>
              <a:t>Source</a:t>
            </a:r>
            <a:r>
              <a:rPr sz="950" spc="165" dirty="0">
                <a:latin typeface="Arial"/>
                <a:cs typeface="Arial"/>
              </a:rPr>
              <a:t> </a:t>
            </a:r>
            <a:r>
              <a:rPr sz="950" spc="-50" dirty="0">
                <a:latin typeface="Arial"/>
                <a:cs typeface="Arial"/>
              </a:rPr>
              <a:t>:</a:t>
            </a:r>
            <a:endParaRPr sz="9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100"/>
              </a:spcBef>
            </a:pPr>
            <a:r>
              <a:rPr dirty="0"/>
              <a:t>Next</a:t>
            </a:r>
            <a:r>
              <a:rPr spc="50" dirty="0"/>
              <a:t> </a:t>
            </a:r>
            <a:r>
              <a:rPr dirty="0"/>
              <a:t>Gen</a:t>
            </a:r>
            <a:r>
              <a:rPr spc="-35" dirty="0"/>
              <a:t> </a:t>
            </a:r>
            <a:r>
              <a:rPr dirty="0"/>
              <a:t>Employability</a:t>
            </a:r>
            <a:r>
              <a:rPr spc="-130" dirty="0"/>
              <a:t> </a:t>
            </a:r>
            <a:r>
              <a:rPr spc="-10" dirty="0"/>
              <a:t>Program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90842" y="557245"/>
            <a:ext cx="8032750" cy="435483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1550" b="1" dirty="0">
                <a:solidFill>
                  <a:srgbClr val="203062"/>
                </a:solidFill>
                <a:latin typeface="Arial"/>
                <a:cs typeface="Arial"/>
              </a:rPr>
              <a:t>Modelling</a:t>
            </a:r>
            <a:r>
              <a:rPr sz="1550" b="1" spc="270" dirty="0">
                <a:solidFill>
                  <a:srgbClr val="203062"/>
                </a:solidFill>
                <a:latin typeface="Arial"/>
                <a:cs typeface="Arial"/>
              </a:rPr>
              <a:t> </a:t>
            </a:r>
            <a:r>
              <a:rPr sz="1550" b="1" dirty="0">
                <a:solidFill>
                  <a:srgbClr val="203062"/>
                </a:solidFill>
                <a:latin typeface="Arial"/>
                <a:cs typeface="Arial"/>
              </a:rPr>
              <a:t>&amp;</a:t>
            </a:r>
            <a:r>
              <a:rPr sz="1550" b="1" spc="-30" dirty="0">
                <a:solidFill>
                  <a:srgbClr val="203062"/>
                </a:solidFill>
                <a:latin typeface="Arial"/>
                <a:cs typeface="Arial"/>
              </a:rPr>
              <a:t> </a:t>
            </a:r>
            <a:r>
              <a:rPr sz="1550" b="1" spc="-10" dirty="0">
                <a:solidFill>
                  <a:srgbClr val="203062"/>
                </a:solidFill>
                <a:latin typeface="Arial"/>
                <a:cs typeface="Arial"/>
              </a:rPr>
              <a:t>Results</a:t>
            </a:r>
            <a:endParaRPr sz="1550">
              <a:latin typeface="Arial"/>
              <a:cs typeface="Arial"/>
            </a:endParaRPr>
          </a:p>
          <a:p>
            <a:pPr marL="401955" indent="-304800">
              <a:lnSpc>
                <a:spcPct val="100000"/>
              </a:lnSpc>
              <a:spcBef>
                <a:spcPts val="590"/>
              </a:spcBef>
              <a:buClr>
                <a:srgbClr val="000000"/>
              </a:buClr>
              <a:buSzPct val="85714"/>
              <a:buAutoNum type="arabicPeriod"/>
              <a:tabLst>
                <a:tab pos="401955" algn="l"/>
              </a:tabLst>
            </a:pP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Problem</a:t>
            </a:r>
            <a:r>
              <a:rPr sz="1400" b="1" spc="-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Context</a:t>
            </a:r>
            <a:r>
              <a:rPr sz="1400" b="1" spc="-7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400" b="1" spc="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11111"/>
                </a:solidFill>
                <a:latin typeface="Arial"/>
                <a:cs typeface="Arial"/>
              </a:rPr>
              <a:t>Importance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40"/>
              </a:spcBef>
              <a:buFont typeface="Arial"/>
              <a:buAutoNum type="arabicPeriod"/>
            </a:pPr>
            <a:endParaRPr sz="1400">
              <a:latin typeface="Arial"/>
              <a:cs typeface="Arial"/>
            </a:endParaRPr>
          </a:p>
          <a:p>
            <a:pPr marL="859790" lvl="1" indent="-305435">
              <a:lnSpc>
                <a:spcPct val="100000"/>
              </a:lnSpc>
              <a:buClr>
                <a:srgbClr val="000000"/>
              </a:buClr>
              <a:buSzPct val="85714"/>
              <a:buFont typeface="Arial"/>
              <a:buChar char="○"/>
              <a:tabLst>
                <a:tab pos="859790" algn="l"/>
              </a:tabLst>
            </a:pP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Context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r>
              <a:rPr sz="1400" spc="-16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In</a:t>
            </a:r>
            <a:r>
              <a:rPr sz="1400" spc="-10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sz="1400" spc="6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field</a:t>
            </a:r>
            <a:r>
              <a:rPr sz="1400" spc="-10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of</a:t>
            </a:r>
            <a:r>
              <a:rPr sz="1400" spc="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machine</a:t>
            </a:r>
            <a:r>
              <a:rPr sz="1400" spc="6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learning</a:t>
            </a:r>
            <a:r>
              <a:rPr sz="1400" spc="6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400" spc="6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mathematical</a:t>
            </a:r>
            <a:r>
              <a:rPr sz="1400" spc="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modeling,</a:t>
            </a:r>
            <a:r>
              <a:rPr sz="1400" spc="-16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understanding</a:t>
            </a:r>
            <a:r>
              <a:rPr sz="1400" spc="-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endParaRPr sz="1400">
              <a:latin typeface="Arial"/>
              <a:cs typeface="Arial"/>
            </a:endParaRPr>
          </a:p>
          <a:p>
            <a:pPr marL="859790">
              <a:lnSpc>
                <a:spcPct val="100000"/>
              </a:lnSpc>
              <a:spcBef>
                <a:spcPts val="275"/>
              </a:spcBef>
            </a:pP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problem</a:t>
            </a:r>
            <a:r>
              <a:rPr sz="1400" spc="-9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context</a:t>
            </a:r>
            <a:r>
              <a:rPr sz="1400" spc="-1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is</a:t>
            </a:r>
            <a:r>
              <a:rPr sz="1400" spc="1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crucial.</a:t>
            </a:r>
            <a:endParaRPr sz="1400">
              <a:latin typeface="Arial"/>
              <a:cs typeface="Arial"/>
            </a:endParaRPr>
          </a:p>
          <a:p>
            <a:pPr marL="859790" marR="108585" lvl="1" indent="-305435">
              <a:lnSpc>
                <a:spcPct val="116199"/>
              </a:lnSpc>
              <a:spcBef>
                <a:spcPts val="1580"/>
              </a:spcBef>
              <a:buClr>
                <a:srgbClr val="000000"/>
              </a:buClr>
              <a:buSzPct val="85714"/>
              <a:buFont typeface="Arial"/>
              <a:buChar char="○"/>
              <a:tabLst>
                <a:tab pos="859790" algn="l"/>
              </a:tabLst>
            </a:pP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Importance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r>
              <a:rPr sz="1400" spc="-1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Accurate</a:t>
            </a:r>
            <a:r>
              <a:rPr sz="1400" spc="-8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modeling</a:t>
            </a:r>
            <a:r>
              <a:rPr sz="1400" spc="-8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400" spc="9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insightful</a:t>
            </a:r>
            <a:r>
              <a:rPr sz="1400" spc="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results</a:t>
            </a:r>
            <a:r>
              <a:rPr sz="1400" spc="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drive</a:t>
            </a:r>
            <a:r>
              <a:rPr sz="1400" spc="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decision-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making,</a:t>
            </a:r>
            <a:r>
              <a:rPr sz="1400" spc="-1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optimization,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400" spc="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scientific</a:t>
            </a:r>
            <a:r>
              <a:rPr sz="1400" spc="-1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advancements.</a:t>
            </a:r>
            <a:endParaRPr sz="1400">
              <a:latin typeface="Arial"/>
              <a:cs typeface="Arial"/>
            </a:endParaRPr>
          </a:p>
          <a:p>
            <a:pPr marL="401955" indent="-304800">
              <a:lnSpc>
                <a:spcPct val="100000"/>
              </a:lnSpc>
              <a:spcBef>
                <a:spcPts val="275"/>
              </a:spcBef>
              <a:buClr>
                <a:srgbClr val="000000"/>
              </a:buClr>
              <a:buSzPct val="85714"/>
              <a:buAutoNum type="arabicPeriod"/>
              <a:tabLst>
                <a:tab pos="401955" algn="l"/>
              </a:tabLst>
            </a:pP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Defining</a:t>
            </a:r>
            <a:r>
              <a:rPr sz="1400" b="1" spc="-7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sz="1400" b="1" spc="-7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11111"/>
                </a:solidFill>
                <a:latin typeface="Arial"/>
                <a:cs typeface="Arial"/>
              </a:rPr>
              <a:t>Problem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859790" marR="5080" lvl="1" indent="-305435">
              <a:lnSpc>
                <a:spcPct val="116399"/>
              </a:lnSpc>
              <a:spcBef>
                <a:spcPts val="1575"/>
              </a:spcBef>
              <a:buClr>
                <a:srgbClr val="000000"/>
              </a:buClr>
              <a:buSzPct val="85714"/>
              <a:buFont typeface="Arial"/>
              <a:buChar char="○"/>
              <a:tabLst>
                <a:tab pos="859790" algn="l"/>
              </a:tabLst>
            </a:pPr>
            <a:r>
              <a:rPr sz="1400" b="1" spc="10" dirty="0">
                <a:solidFill>
                  <a:srgbClr val="111111"/>
                </a:solidFill>
                <a:latin typeface="Arial"/>
                <a:cs typeface="Arial"/>
              </a:rPr>
              <a:t>Ideal</a:t>
            </a:r>
            <a:r>
              <a:rPr sz="1400" b="1" spc="-1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111111"/>
                </a:solidFill>
                <a:latin typeface="Arial"/>
                <a:cs typeface="Arial"/>
              </a:rPr>
              <a:t>Outcome</a:t>
            </a:r>
            <a:r>
              <a:rPr sz="1400" spc="1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r>
              <a:rPr sz="1400" spc="-1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Clearly</a:t>
            </a:r>
            <a:r>
              <a:rPr sz="140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state</a:t>
            </a:r>
            <a:r>
              <a:rPr sz="1400" spc="-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sz="1400" spc="8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11111"/>
                </a:solidFill>
                <a:latin typeface="Arial"/>
                <a:cs typeface="Arial"/>
              </a:rPr>
              <a:t>desired</a:t>
            </a:r>
            <a:r>
              <a:rPr sz="1400" spc="-9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11111"/>
                </a:solidFill>
                <a:latin typeface="Arial"/>
                <a:cs typeface="Arial"/>
              </a:rPr>
              <a:t>outcome.</a:t>
            </a:r>
            <a:r>
              <a:rPr sz="1400" spc="-1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What</a:t>
            </a:r>
            <a:r>
              <a:rPr sz="1400" spc="-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11111"/>
                </a:solidFill>
                <a:latin typeface="Arial"/>
                <a:cs typeface="Arial"/>
              </a:rPr>
              <a:t>specific</a:t>
            </a:r>
            <a:r>
              <a:rPr sz="1400" spc="-9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11111"/>
                </a:solidFill>
                <a:latin typeface="Arial"/>
                <a:cs typeface="Arial"/>
              </a:rPr>
              <a:t>question</a:t>
            </a:r>
            <a:r>
              <a:rPr sz="1400" spc="-17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11111"/>
                </a:solidFill>
                <a:latin typeface="Arial"/>
                <a:cs typeface="Arial"/>
              </a:rPr>
              <a:t>or</a:t>
            </a:r>
            <a:r>
              <a:rPr sz="1400" spc="-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challenge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111111"/>
                </a:solidFill>
                <a:latin typeface="Arial"/>
                <a:cs typeface="Arial"/>
              </a:rPr>
              <a:t>are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you</a:t>
            </a:r>
            <a:r>
              <a:rPr sz="1400" spc="-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addressing?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Font typeface="Arial"/>
              <a:buChar char="○"/>
            </a:pPr>
            <a:endParaRPr sz="1400">
              <a:latin typeface="Arial"/>
              <a:cs typeface="Arial"/>
            </a:endParaRPr>
          </a:p>
          <a:p>
            <a:pPr marL="859790" marR="727710" lvl="1" indent="-305435">
              <a:lnSpc>
                <a:spcPct val="111900"/>
              </a:lnSpc>
              <a:buClr>
                <a:srgbClr val="000000"/>
              </a:buClr>
              <a:buSzPct val="85714"/>
              <a:buFont typeface="Arial"/>
              <a:buChar char="○"/>
              <a:tabLst>
                <a:tab pos="859790" algn="l"/>
              </a:tabLst>
            </a:pP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Model’s</a:t>
            </a:r>
            <a:r>
              <a:rPr sz="1400" b="1" spc="-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Goal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r>
              <a:rPr sz="1400" spc="-1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Define</a:t>
            </a:r>
            <a:r>
              <a:rPr sz="1400" spc="-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sz="1400" spc="1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purpose</a:t>
            </a:r>
            <a:r>
              <a:rPr sz="1400" spc="-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of</a:t>
            </a:r>
            <a:r>
              <a:rPr sz="1400" spc="-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your</a:t>
            </a:r>
            <a:r>
              <a:rPr sz="1400" spc="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model.</a:t>
            </a:r>
            <a:r>
              <a:rPr sz="1400" spc="-1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Is</a:t>
            </a:r>
            <a:r>
              <a:rPr sz="1400" spc="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it</a:t>
            </a:r>
            <a:r>
              <a:rPr sz="1400" spc="6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for</a:t>
            </a:r>
            <a:r>
              <a:rPr sz="1400" spc="-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prediction,</a:t>
            </a:r>
            <a:r>
              <a:rPr sz="1400" spc="-1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classification,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regression,</a:t>
            </a:r>
            <a:r>
              <a:rPr sz="1400" spc="-1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or</a:t>
            </a:r>
            <a:r>
              <a:rPr sz="1400" spc="6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optimization?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114"/>
              </a:spcBef>
              <a:buFont typeface="Arial"/>
              <a:buChar char="○"/>
            </a:pPr>
            <a:endParaRPr sz="1400">
              <a:latin typeface="Arial"/>
              <a:cs typeface="Arial"/>
            </a:endParaRPr>
          </a:p>
          <a:p>
            <a:pPr marL="859790" marR="1202690" lvl="1" indent="-305435">
              <a:lnSpc>
                <a:spcPct val="111900"/>
              </a:lnSpc>
              <a:buClr>
                <a:srgbClr val="000000"/>
              </a:buClr>
              <a:buSzPct val="85714"/>
              <a:buFont typeface="Arial"/>
              <a:buChar char="○"/>
              <a:tabLst>
                <a:tab pos="859790" algn="l"/>
              </a:tabLst>
            </a:pP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Output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r>
              <a:rPr sz="1400" spc="-1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Identify</a:t>
            </a:r>
            <a:r>
              <a:rPr sz="1400" spc="-1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what</a:t>
            </a:r>
            <a:r>
              <a:rPr sz="1400" spc="2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sz="1400" spc="9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model</a:t>
            </a:r>
            <a:r>
              <a:rPr sz="1400" spc="-1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will</a:t>
            </a:r>
            <a:r>
              <a:rPr sz="1400" spc="1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produce</a:t>
            </a:r>
            <a:r>
              <a:rPr sz="1400" spc="-8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(e.g.,</a:t>
            </a:r>
            <a:r>
              <a:rPr sz="1400" spc="-6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predictions,</a:t>
            </a:r>
            <a:r>
              <a:rPr sz="1400" spc="-1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probabilities, recommendations).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463" y="129857"/>
            <a:ext cx="72612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Next</a:t>
            </a:r>
            <a:r>
              <a:rPr sz="1800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Gen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Employability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Program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39590" y="586740"/>
            <a:ext cx="148082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spc="-40" dirty="0">
                <a:solidFill>
                  <a:srgbClr val="000000"/>
                </a:solidFill>
              </a:rPr>
              <a:t>Homepage</a:t>
            </a:r>
            <a:endParaRPr sz="2400"/>
          </a:p>
        </p:txBody>
      </p:sp>
      <p:pic>
        <p:nvPicPr>
          <p:cNvPr id="1027" name="Picture 3" descr="C:\Users\Monisha\Videos\Captures\home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0" y="971550"/>
            <a:ext cx="7010400" cy="394142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463" y="129857"/>
            <a:ext cx="72612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Next</a:t>
            </a:r>
            <a:r>
              <a:rPr sz="1800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Gen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Employability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Program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06901" y="807148"/>
            <a:ext cx="1336675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400" b="1" spc="-10" dirty="0" smtClean="0">
                <a:latin typeface="Arial"/>
                <a:cs typeface="Arial"/>
              </a:rPr>
              <a:t>Login</a:t>
            </a:r>
            <a:r>
              <a:rPr sz="1400" b="1" spc="-10" smtClean="0">
                <a:latin typeface="Arial"/>
                <a:cs typeface="Arial"/>
              </a:rPr>
              <a:t>-</a:t>
            </a:r>
            <a:r>
              <a:rPr sz="1400" b="1" spc="-20" smtClean="0">
                <a:latin typeface="Arial"/>
                <a:cs typeface="Arial"/>
              </a:rPr>
              <a:t>Page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2050" name="Picture 2" descr="C:\Users\Monisha\Videos\Captures\Log In - Profile 1 - Microsoft​ Edge 4_8_2024 6_12_15 PM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47800" y="1200150"/>
            <a:ext cx="6172200" cy="32766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463" y="129857"/>
            <a:ext cx="72612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Next</a:t>
            </a:r>
            <a:r>
              <a:rPr sz="1800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Gen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Employability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Program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992626" y="823912"/>
            <a:ext cx="1175385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400" b="1" dirty="0" smtClean="0">
                <a:latin typeface="Arial"/>
                <a:cs typeface="Arial"/>
              </a:rPr>
              <a:t>Album</a:t>
            </a:r>
            <a:r>
              <a:rPr sz="1400" b="1" smtClean="0">
                <a:latin typeface="Arial"/>
                <a:cs typeface="Arial"/>
              </a:rPr>
              <a:t>-</a:t>
            </a:r>
            <a:r>
              <a:rPr sz="1400" b="1" spc="-20" smtClean="0">
                <a:latin typeface="Arial"/>
                <a:cs typeface="Arial"/>
              </a:rPr>
              <a:t>Page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3074" name="Picture 2" descr="C:\Users\Monisha\Videos\Captures\Log In - Profile 1 - Microsoft​ Edge 4_8_2024 6_12_30 PM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1123950"/>
            <a:ext cx="6629400" cy="353309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463" y="129857"/>
            <a:ext cx="72612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Next</a:t>
            </a:r>
            <a:r>
              <a:rPr sz="1800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Gen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Employability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Program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657600" y="590550"/>
            <a:ext cx="1623060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400" b="1" dirty="0" smtClean="0">
                <a:latin typeface="Arial"/>
                <a:cs typeface="Arial"/>
              </a:rPr>
              <a:t>Songs</a:t>
            </a:r>
            <a:r>
              <a:rPr sz="1400" b="1" smtClean="0">
                <a:latin typeface="Arial"/>
                <a:cs typeface="Arial"/>
              </a:rPr>
              <a:t>-</a:t>
            </a:r>
            <a:r>
              <a:rPr sz="1400" b="1" spc="-20" smtClean="0">
                <a:latin typeface="Arial"/>
                <a:cs typeface="Arial"/>
              </a:rPr>
              <a:t>Page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4098" name="Picture 2" descr="C:\Users\Monisha\Videos\Captures\Log In - Profile 1 - Microsoft​ Edge 4_8_2024 6_12_42 PM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90601" y="971550"/>
            <a:ext cx="7239000" cy="38671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463" y="129857"/>
            <a:ext cx="72612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Next</a:t>
            </a:r>
            <a:r>
              <a:rPr sz="1800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Gen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Employability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Program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505200" y="742950"/>
            <a:ext cx="1531874" cy="23147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lang="en-US" sz="1400" b="1" dirty="0" smtClean="0">
                <a:latin typeface="Arial"/>
                <a:cs typeface="Arial"/>
              </a:rPr>
              <a:t>Favorite</a:t>
            </a:r>
            <a:r>
              <a:rPr sz="1400" b="1" smtClean="0">
                <a:latin typeface="Arial"/>
                <a:cs typeface="Arial"/>
              </a:rPr>
              <a:t>-</a:t>
            </a:r>
            <a:r>
              <a:rPr sz="1400" b="1" spc="-20" smtClean="0">
                <a:latin typeface="Arial"/>
                <a:cs typeface="Arial"/>
              </a:rPr>
              <a:t>Page</a:t>
            </a:r>
            <a:endParaRPr sz="1400">
              <a:latin typeface="Arial"/>
              <a:cs typeface="Arial"/>
            </a:endParaRPr>
          </a:p>
        </p:txBody>
      </p:sp>
      <p:pic>
        <p:nvPicPr>
          <p:cNvPr id="5122" name="Picture 2" descr="C:\Users\Monisha\Videos\Captures\Log In - Profile 1 - Microsoft​ Edge 4_8_2024 6_13_03 PM.pn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66800" y="1123950"/>
            <a:ext cx="7010400" cy="3581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100"/>
              </a:spcBef>
            </a:pPr>
            <a:r>
              <a:rPr dirty="0"/>
              <a:t>Next</a:t>
            </a:r>
            <a:r>
              <a:rPr spc="50" dirty="0"/>
              <a:t> </a:t>
            </a:r>
            <a:r>
              <a:rPr dirty="0"/>
              <a:t>Gen</a:t>
            </a:r>
            <a:r>
              <a:rPr spc="-35" dirty="0"/>
              <a:t> </a:t>
            </a:r>
            <a:r>
              <a:rPr dirty="0"/>
              <a:t>Employability</a:t>
            </a:r>
            <a:r>
              <a:rPr spc="-130" dirty="0"/>
              <a:t> </a:t>
            </a:r>
            <a:r>
              <a:rPr spc="-10" dirty="0"/>
              <a:t>Program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6217" y="481852"/>
            <a:ext cx="8484235" cy="4218940"/>
          </a:xfrm>
          <a:prstGeom prst="rect">
            <a:avLst/>
          </a:prstGeom>
        </p:spPr>
        <p:txBody>
          <a:bodyPr vert="horz" wrap="square" lIns="0" tIns="123189" rIns="0" bIns="0" rtlCol="0">
            <a:spAutoFit/>
          </a:bodyPr>
          <a:lstStyle/>
          <a:p>
            <a:pPr marL="187325">
              <a:lnSpc>
                <a:spcPct val="100000"/>
              </a:lnSpc>
              <a:spcBef>
                <a:spcPts val="969"/>
              </a:spcBef>
            </a:pPr>
            <a:r>
              <a:rPr sz="1550" b="1" dirty="0">
                <a:solidFill>
                  <a:srgbClr val="203062"/>
                </a:solidFill>
                <a:latin typeface="Arial"/>
                <a:cs typeface="Arial"/>
              </a:rPr>
              <a:t>Future</a:t>
            </a:r>
            <a:r>
              <a:rPr sz="1550" b="1" spc="100" dirty="0">
                <a:solidFill>
                  <a:srgbClr val="203062"/>
                </a:solidFill>
                <a:latin typeface="Arial"/>
                <a:cs typeface="Arial"/>
              </a:rPr>
              <a:t> </a:t>
            </a:r>
            <a:r>
              <a:rPr sz="1550" b="1" spc="-10" dirty="0">
                <a:solidFill>
                  <a:srgbClr val="203062"/>
                </a:solidFill>
                <a:latin typeface="Arial"/>
                <a:cs typeface="Arial"/>
              </a:rPr>
              <a:t>Enhancements</a:t>
            </a:r>
            <a:r>
              <a:rPr sz="1550" b="1" spc="-10" dirty="0">
                <a:solidFill>
                  <a:srgbClr val="374151"/>
                </a:solidFill>
                <a:latin typeface="Arial"/>
                <a:cs typeface="Arial"/>
              </a:rPr>
              <a:t>:</a:t>
            </a:r>
            <a:endParaRPr sz="155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800"/>
              </a:spcBef>
              <a:buClr>
                <a:srgbClr val="000000"/>
              </a:buClr>
              <a:buSzPct val="85714"/>
              <a:buAutoNum type="arabicPeriod"/>
              <a:tabLst>
                <a:tab pos="355600" algn="l"/>
              </a:tabLst>
            </a:pP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Problem</a:t>
            </a:r>
            <a:r>
              <a:rPr sz="1400" spc="-114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Context</a:t>
            </a:r>
            <a:r>
              <a:rPr sz="1400" spc="-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400" spc="9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Importance:</a:t>
            </a:r>
            <a:endParaRPr sz="1400">
              <a:latin typeface="Arial"/>
              <a:cs typeface="Arial"/>
            </a:endParaRPr>
          </a:p>
          <a:p>
            <a:pPr marL="298450" lvl="1" indent="-285750">
              <a:lnSpc>
                <a:spcPct val="100000"/>
              </a:lnSpc>
              <a:spcBef>
                <a:spcPts val="875"/>
              </a:spcBef>
              <a:buClr>
                <a:srgbClr val="000000"/>
              </a:buClr>
              <a:buSzPct val="85714"/>
              <a:buFont typeface="Arial"/>
              <a:buChar char="○"/>
              <a:tabLst>
                <a:tab pos="298450" algn="l"/>
              </a:tabLst>
            </a:pP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Context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r>
              <a:rPr sz="1400" spc="-1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As</a:t>
            </a:r>
            <a:r>
              <a:rPr sz="1400" spc="-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technology</a:t>
            </a:r>
            <a:r>
              <a:rPr sz="1400" spc="-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evolves,</a:t>
            </a:r>
            <a:r>
              <a:rPr sz="1400" spc="-1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software</a:t>
            </a:r>
            <a:r>
              <a:rPr sz="1400" spc="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systems</a:t>
            </a:r>
            <a:r>
              <a:rPr sz="1400" spc="-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400" spc="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applications</a:t>
            </a:r>
            <a:r>
              <a:rPr sz="1400" spc="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need</a:t>
            </a:r>
            <a:r>
              <a:rPr sz="1400" spc="-6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continuous</a:t>
            </a:r>
            <a:r>
              <a:rPr sz="1400" spc="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improvement.</a:t>
            </a:r>
            <a:endParaRPr sz="1400">
              <a:latin typeface="Arial"/>
              <a:cs typeface="Arial"/>
            </a:endParaRPr>
          </a:p>
          <a:p>
            <a:pPr marL="241300" marR="110489" lvl="1" indent="-229235">
              <a:lnSpc>
                <a:spcPts val="2550"/>
              </a:lnSpc>
              <a:spcBef>
                <a:spcPts val="155"/>
              </a:spcBef>
              <a:buClr>
                <a:srgbClr val="000000"/>
              </a:buClr>
              <a:buSzPct val="85714"/>
              <a:buFont typeface="Arial"/>
              <a:buChar char="○"/>
              <a:tabLst>
                <a:tab pos="241300" algn="l"/>
              </a:tabLst>
            </a:pP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Importance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r>
              <a:rPr sz="1400" spc="-16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Identifying</a:t>
            </a:r>
            <a:r>
              <a:rPr sz="1400" spc="-10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future</a:t>
            </a:r>
            <a:r>
              <a:rPr sz="1400" spc="-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enhancements</a:t>
            </a:r>
            <a:r>
              <a:rPr sz="1400" spc="-10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ensures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that</a:t>
            </a:r>
            <a:r>
              <a:rPr sz="1400" spc="9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your</a:t>
            </a:r>
            <a:r>
              <a:rPr sz="140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solution</a:t>
            </a:r>
            <a:r>
              <a:rPr sz="1400" spc="-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remains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relevant,</a:t>
            </a:r>
            <a:r>
              <a:rPr sz="1400" spc="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efficient,</a:t>
            </a:r>
            <a:r>
              <a:rPr sz="1400" spc="-16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111111"/>
                </a:solidFill>
                <a:latin typeface="Arial"/>
                <a:cs typeface="Arial"/>
              </a:rPr>
              <a:t>and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competitive.</a:t>
            </a:r>
            <a:endParaRPr sz="14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650"/>
              </a:spcBef>
              <a:buClr>
                <a:srgbClr val="000000"/>
              </a:buClr>
              <a:buSzPct val="85714"/>
              <a:buAutoNum type="arabicPeriod" startAt="2"/>
              <a:tabLst>
                <a:tab pos="241300" algn="l"/>
              </a:tabLst>
            </a:pP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Defining</a:t>
            </a:r>
            <a:r>
              <a:rPr sz="1400" spc="-1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sz="1400" spc="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Problem:</a:t>
            </a:r>
            <a:endParaRPr sz="1400">
              <a:latin typeface="Arial"/>
              <a:cs typeface="Arial"/>
            </a:endParaRPr>
          </a:p>
          <a:p>
            <a:pPr marL="241300" marR="5080" lvl="1" indent="-229235">
              <a:lnSpc>
                <a:spcPts val="2560"/>
              </a:lnSpc>
              <a:spcBef>
                <a:spcPts val="155"/>
              </a:spcBef>
              <a:buClr>
                <a:srgbClr val="000000"/>
              </a:buClr>
              <a:buSzPct val="85714"/>
              <a:buFont typeface="Arial"/>
              <a:buChar char="○"/>
              <a:tabLst>
                <a:tab pos="241300" algn="l"/>
              </a:tabLst>
            </a:pP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Current</a:t>
            </a:r>
            <a:r>
              <a:rPr sz="1400" b="1" spc="-16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State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r>
              <a:rPr sz="1400" spc="-1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Describe</a:t>
            </a:r>
            <a:r>
              <a:rPr sz="1400" spc="-10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sz="1400" spc="-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existing</a:t>
            </a:r>
            <a:r>
              <a:rPr sz="1400" spc="-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system</a:t>
            </a:r>
            <a:r>
              <a:rPr sz="1400" spc="-1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or</a:t>
            </a:r>
            <a:r>
              <a:rPr sz="140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application.</a:t>
            </a:r>
            <a:r>
              <a:rPr sz="1400" spc="-7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What</a:t>
            </a:r>
            <a:r>
              <a:rPr sz="1400" spc="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features</a:t>
            </a:r>
            <a:r>
              <a:rPr sz="1400" spc="-9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or</a:t>
            </a:r>
            <a:r>
              <a:rPr sz="1400" spc="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functionalities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are</a:t>
            </a:r>
            <a:r>
              <a:rPr sz="1400" spc="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already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25" dirty="0">
                <a:solidFill>
                  <a:srgbClr val="111111"/>
                </a:solidFill>
                <a:latin typeface="Arial"/>
                <a:cs typeface="Arial"/>
              </a:rPr>
              <a:t>in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place?</a:t>
            </a:r>
            <a:endParaRPr sz="1400">
              <a:latin typeface="Arial"/>
              <a:cs typeface="Arial"/>
            </a:endParaRPr>
          </a:p>
          <a:p>
            <a:pPr marL="241300" lvl="1" indent="-228600">
              <a:lnSpc>
                <a:spcPct val="100000"/>
              </a:lnSpc>
              <a:spcBef>
                <a:spcPts val="560"/>
              </a:spcBef>
              <a:buClr>
                <a:srgbClr val="000000"/>
              </a:buClr>
              <a:buSzPct val="85714"/>
              <a:buFont typeface="Arial"/>
              <a:buChar char="○"/>
              <a:tabLst>
                <a:tab pos="241300" algn="l"/>
              </a:tabLst>
            </a:pP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Gaps</a:t>
            </a:r>
            <a:r>
              <a:rPr sz="1400" b="1" spc="-7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400" b="1" spc="-8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Opportunities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r>
              <a:rPr sz="1400" spc="-1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Identify</a:t>
            </a:r>
            <a:r>
              <a:rPr sz="1400" spc="-16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areas</a:t>
            </a:r>
            <a:r>
              <a:rPr sz="1400" spc="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where</a:t>
            </a:r>
            <a:r>
              <a:rPr sz="1400" spc="114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improvements</a:t>
            </a:r>
            <a:r>
              <a:rPr sz="1400" spc="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or</a:t>
            </a:r>
            <a:r>
              <a:rPr sz="1400" spc="-1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additional</a:t>
            </a:r>
            <a:r>
              <a:rPr sz="1400" spc="-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features</a:t>
            </a:r>
            <a:r>
              <a:rPr sz="1400" spc="-6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are</a:t>
            </a:r>
            <a:r>
              <a:rPr sz="1400" spc="1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needed.</a:t>
            </a:r>
            <a:endParaRPr sz="1400">
              <a:latin typeface="Arial"/>
              <a:cs typeface="Arial"/>
            </a:endParaRPr>
          </a:p>
          <a:p>
            <a:pPr marL="241300" lvl="1" indent="-228600">
              <a:lnSpc>
                <a:spcPct val="100000"/>
              </a:lnSpc>
              <a:spcBef>
                <a:spcPts val="875"/>
              </a:spcBef>
              <a:buClr>
                <a:srgbClr val="000000"/>
              </a:buClr>
              <a:buSzPct val="85714"/>
              <a:buFont typeface="Arial"/>
              <a:buChar char="○"/>
              <a:tabLst>
                <a:tab pos="241300" algn="l"/>
              </a:tabLst>
            </a:pP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User</a:t>
            </a:r>
            <a:r>
              <a:rPr sz="1400" b="1" spc="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Needs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r>
              <a:rPr sz="1400" spc="-114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Consider</a:t>
            </a:r>
            <a:r>
              <a:rPr sz="1400" spc="-114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feedback</a:t>
            </a:r>
            <a:r>
              <a:rPr sz="1400" spc="-1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from</a:t>
            </a:r>
            <a:r>
              <a:rPr sz="1400" spc="-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users,</a:t>
            </a:r>
            <a:r>
              <a:rPr sz="1400" spc="-114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stakeholders,</a:t>
            </a:r>
            <a:r>
              <a:rPr sz="1400" spc="-1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400" spc="16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market</a:t>
            </a:r>
            <a:r>
              <a:rPr sz="1400" spc="9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trends.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75"/>
              </a:spcBef>
            </a:pPr>
            <a:r>
              <a:rPr sz="1200" dirty="0">
                <a:latin typeface="Arial"/>
                <a:cs typeface="Arial"/>
              </a:rPr>
              <a:t>3.</a:t>
            </a:r>
            <a:r>
              <a:rPr sz="1200" spc="459" dirty="0"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Future</a:t>
            </a:r>
            <a:r>
              <a:rPr sz="1400" spc="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Enhancement</a:t>
            </a:r>
            <a:r>
              <a:rPr sz="1400" spc="-1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Goals:</a:t>
            </a:r>
            <a:endParaRPr sz="14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800"/>
              </a:spcBef>
              <a:buClr>
                <a:srgbClr val="000000"/>
              </a:buClr>
              <a:buSzPct val="85714"/>
              <a:buFont typeface="Arial"/>
              <a:buChar char="○"/>
              <a:tabLst>
                <a:tab pos="241300" algn="l"/>
              </a:tabLst>
            </a:pP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Clear</a:t>
            </a:r>
            <a:r>
              <a:rPr sz="1400" b="1" spc="-10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Objectives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r>
              <a:rPr sz="1400" spc="-1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Specify</a:t>
            </a:r>
            <a:r>
              <a:rPr sz="1400" spc="-19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what</a:t>
            </a:r>
            <a:r>
              <a:rPr sz="1400" spc="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you</a:t>
            </a:r>
            <a:r>
              <a:rPr sz="1400" spc="-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aim</a:t>
            </a:r>
            <a:r>
              <a:rPr sz="1400" spc="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to</a:t>
            </a:r>
            <a:r>
              <a:rPr sz="1400" spc="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achieve</a:t>
            </a:r>
            <a:r>
              <a:rPr sz="1400" spc="-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with</a:t>
            </a:r>
            <a:r>
              <a:rPr sz="1400" spc="1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these</a:t>
            </a:r>
            <a:r>
              <a:rPr sz="1400" spc="-114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enhancements.</a:t>
            </a:r>
            <a:endParaRPr sz="1400">
              <a:latin typeface="Arial"/>
              <a:cs typeface="Arial"/>
            </a:endParaRPr>
          </a:p>
          <a:p>
            <a:pPr marL="241300" indent="-228600">
              <a:lnSpc>
                <a:spcPct val="100000"/>
              </a:lnSpc>
              <a:spcBef>
                <a:spcPts val="875"/>
              </a:spcBef>
              <a:buClr>
                <a:srgbClr val="000000"/>
              </a:buClr>
              <a:buSzPct val="85714"/>
              <a:buFont typeface="Arial"/>
              <a:buChar char="○"/>
              <a:tabLst>
                <a:tab pos="241300" algn="l"/>
              </a:tabLst>
            </a:pP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Prioritization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r>
              <a:rPr sz="1400" spc="-1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Determine</a:t>
            </a:r>
            <a:r>
              <a:rPr sz="1400" spc="-9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which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enhancements</a:t>
            </a:r>
            <a:r>
              <a:rPr sz="1400" spc="-8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are</a:t>
            </a:r>
            <a:r>
              <a:rPr sz="1400" spc="8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most</a:t>
            </a:r>
            <a:r>
              <a:rPr sz="1400" spc="-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critical</a:t>
            </a:r>
            <a:r>
              <a:rPr sz="1400" spc="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or</a:t>
            </a:r>
            <a:r>
              <a:rPr sz="1400" spc="-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impactful.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100"/>
              </a:spcBef>
            </a:pPr>
            <a:r>
              <a:rPr dirty="0"/>
              <a:t>Next</a:t>
            </a:r>
            <a:r>
              <a:rPr spc="50" dirty="0"/>
              <a:t> </a:t>
            </a:r>
            <a:r>
              <a:rPr dirty="0"/>
              <a:t>Gen</a:t>
            </a:r>
            <a:r>
              <a:rPr spc="-35" dirty="0"/>
              <a:t> </a:t>
            </a:r>
            <a:r>
              <a:rPr dirty="0"/>
              <a:t>Employability</a:t>
            </a:r>
            <a:r>
              <a:rPr spc="-130" dirty="0"/>
              <a:t> </a:t>
            </a:r>
            <a:r>
              <a:rPr spc="-10" dirty="0"/>
              <a:t>Program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7957" y="590144"/>
            <a:ext cx="8648700" cy="452120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550" b="1" spc="-10" dirty="0">
                <a:solidFill>
                  <a:srgbClr val="203062"/>
                </a:solidFill>
                <a:latin typeface="Arial"/>
                <a:cs typeface="Arial"/>
              </a:rPr>
              <a:t>Conclusion</a:t>
            </a:r>
            <a:endParaRPr sz="1550">
              <a:latin typeface="Arial"/>
              <a:cs typeface="Arial"/>
            </a:endParaRPr>
          </a:p>
          <a:p>
            <a:pPr marL="653415" indent="-343535">
              <a:lnSpc>
                <a:spcPct val="100000"/>
              </a:lnSpc>
              <a:spcBef>
                <a:spcPts val="290"/>
              </a:spcBef>
              <a:buClr>
                <a:srgbClr val="000000"/>
              </a:buClr>
              <a:buSzPct val="85714"/>
              <a:buAutoNum type="arabicPeriod"/>
              <a:tabLst>
                <a:tab pos="653415" algn="l"/>
              </a:tabLst>
            </a:pP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Problem</a:t>
            </a:r>
            <a:r>
              <a:rPr sz="1400" b="1" spc="-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Context</a:t>
            </a:r>
            <a:r>
              <a:rPr sz="1400" b="1" spc="-6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400" b="1" spc="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11111"/>
                </a:solidFill>
                <a:latin typeface="Arial"/>
                <a:cs typeface="Arial"/>
              </a:rPr>
              <a:t>Importance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1073150" marR="90805" lvl="1" indent="-305435">
              <a:lnSpc>
                <a:spcPct val="116199"/>
              </a:lnSpc>
              <a:spcBef>
                <a:spcPts val="1580"/>
              </a:spcBef>
              <a:buClr>
                <a:srgbClr val="000000"/>
              </a:buClr>
              <a:buSzPct val="85714"/>
              <a:buFont typeface="Arial"/>
              <a:buChar char="○"/>
              <a:tabLst>
                <a:tab pos="1073150" algn="l"/>
              </a:tabLst>
            </a:pP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Context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r>
              <a:rPr sz="1400" spc="-16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sz="1400" spc="-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conclusion</a:t>
            </a:r>
            <a:r>
              <a:rPr sz="1400" spc="-18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of</a:t>
            </a:r>
            <a:r>
              <a:rPr sz="1400" spc="-8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any</a:t>
            </a:r>
            <a:r>
              <a:rPr sz="1400" spc="16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research</a:t>
            </a:r>
            <a:r>
              <a:rPr sz="1400" spc="-19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or</a:t>
            </a:r>
            <a:r>
              <a:rPr sz="140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project</a:t>
            </a:r>
            <a:r>
              <a:rPr sz="1400" spc="-1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marks</a:t>
            </a:r>
            <a:r>
              <a:rPr sz="1400" spc="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sz="1400" spc="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final</a:t>
            </a:r>
            <a:r>
              <a:rPr sz="1400" spc="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stage</a:t>
            </a:r>
            <a:r>
              <a:rPr sz="1400" spc="-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where</a:t>
            </a:r>
            <a:r>
              <a:rPr sz="1400" spc="-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you</a:t>
            </a:r>
            <a:r>
              <a:rPr sz="1400" spc="6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summarize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your</a:t>
            </a:r>
            <a:r>
              <a:rPr sz="1400" spc="-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findings</a:t>
            </a:r>
            <a:r>
              <a:rPr sz="1400" spc="-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400" spc="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insights.</a:t>
            </a:r>
            <a:endParaRPr sz="1400">
              <a:latin typeface="Arial"/>
              <a:cs typeface="Arial"/>
            </a:endParaRPr>
          </a:p>
          <a:p>
            <a:pPr marL="1073150" marR="5080" lvl="1" indent="-305435">
              <a:lnSpc>
                <a:spcPct val="116199"/>
              </a:lnSpc>
              <a:spcBef>
                <a:spcPts val="1580"/>
              </a:spcBef>
              <a:buClr>
                <a:srgbClr val="000000"/>
              </a:buClr>
              <a:buSzPct val="85714"/>
              <a:buFont typeface="Arial"/>
              <a:buChar char="○"/>
              <a:tabLst>
                <a:tab pos="1073150" algn="l"/>
              </a:tabLst>
            </a:pP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Importance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r>
              <a:rPr sz="1400" spc="-17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Crafting</a:t>
            </a:r>
            <a:r>
              <a:rPr sz="1400" spc="-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an</a:t>
            </a:r>
            <a:r>
              <a:rPr sz="1400" spc="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effective</a:t>
            </a:r>
            <a:r>
              <a:rPr sz="1400" spc="-12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conclusion</a:t>
            </a:r>
            <a:r>
              <a:rPr sz="1400" spc="-19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ensures</a:t>
            </a:r>
            <a:r>
              <a:rPr sz="1400" spc="-114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that</a:t>
            </a:r>
            <a:r>
              <a:rPr sz="1400" spc="6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your</a:t>
            </a:r>
            <a:r>
              <a:rPr sz="1400" spc="-1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work</a:t>
            </a:r>
            <a:r>
              <a:rPr sz="1400" spc="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leaves</a:t>
            </a:r>
            <a:r>
              <a:rPr sz="1400" spc="-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</a:t>
            </a:r>
            <a:r>
              <a:rPr sz="1400" spc="-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lasting</a:t>
            </a:r>
            <a:r>
              <a:rPr sz="1400" spc="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impression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400" spc="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provides</a:t>
            </a:r>
            <a:r>
              <a:rPr sz="1400" spc="-1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closure.</a:t>
            </a:r>
            <a:endParaRPr sz="1400">
              <a:latin typeface="Arial"/>
              <a:cs typeface="Arial"/>
            </a:endParaRPr>
          </a:p>
          <a:p>
            <a:pPr marL="615315" indent="-305435">
              <a:lnSpc>
                <a:spcPct val="100000"/>
              </a:lnSpc>
              <a:spcBef>
                <a:spcPts val="275"/>
              </a:spcBef>
              <a:buClr>
                <a:srgbClr val="000000"/>
              </a:buClr>
              <a:buSzPct val="85714"/>
              <a:buAutoNum type="arabicPeriod"/>
              <a:tabLst>
                <a:tab pos="615315" algn="l"/>
              </a:tabLst>
            </a:pP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Defining</a:t>
            </a:r>
            <a:r>
              <a:rPr sz="1400" b="1" spc="-6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sz="1400" b="1" spc="-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11111"/>
                </a:solidFill>
                <a:latin typeface="Arial"/>
                <a:cs typeface="Arial"/>
              </a:rPr>
              <a:t>Problem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1073150" marR="196850" lvl="1" indent="-305435">
              <a:lnSpc>
                <a:spcPct val="116300"/>
              </a:lnSpc>
              <a:spcBef>
                <a:spcPts val="1575"/>
              </a:spcBef>
              <a:buClr>
                <a:srgbClr val="000000"/>
              </a:buClr>
              <a:buSzPct val="85714"/>
              <a:buFont typeface="Arial"/>
              <a:buChar char="○"/>
              <a:tabLst>
                <a:tab pos="1073150" algn="l"/>
              </a:tabLst>
            </a:pP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Restate</a:t>
            </a:r>
            <a:r>
              <a:rPr sz="1400" b="1" spc="-6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sz="1400" b="1" spc="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Problem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r>
              <a:rPr sz="1400" spc="-1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Begin</a:t>
            </a:r>
            <a:r>
              <a:rPr sz="1400" spc="-1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by</a:t>
            </a:r>
            <a:r>
              <a:rPr sz="1400" spc="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revisiting</a:t>
            </a:r>
            <a:r>
              <a:rPr sz="1400" spc="13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sz="1400" spc="1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problem</a:t>
            </a:r>
            <a:r>
              <a:rPr sz="1400" spc="-8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or</a:t>
            </a:r>
            <a:r>
              <a:rPr sz="1400" spc="-3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research</a:t>
            </a:r>
            <a:r>
              <a:rPr sz="1400" spc="-1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question</a:t>
            </a:r>
            <a:r>
              <a:rPr sz="1400" spc="-6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addressed</a:t>
            </a:r>
            <a:r>
              <a:rPr sz="1400" spc="4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in</a:t>
            </a:r>
            <a:r>
              <a:rPr sz="1400" spc="-1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111111"/>
                </a:solidFill>
                <a:latin typeface="Arial"/>
                <a:cs typeface="Arial"/>
              </a:rPr>
              <a:t>your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work.</a:t>
            </a:r>
            <a:endParaRPr sz="1400">
              <a:latin typeface="Arial"/>
              <a:cs typeface="Arial"/>
            </a:endParaRPr>
          </a:p>
          <a:p>
            <a:pPr lvl="1">
              <a:lnSpc>
                <a:spcPct val="100000"/>
              </a:lnSpc>
              <a:spcBef>
                <a:spcPts val="40"/>
              </a:spcBef>
              <a:buFont typeface="Arial"/>
              <a:buChar char="○"/>
            </a:pPr>
            <a:endParaRPr sz="1400">
              <a:latin typeface="Arial"/>
              <a:cs typeface="Arial"/>
            </a:endParaRPr>
          </a:p>
          <a:p>
            <a:pPr marL="1073150" marR="177165" lvl="1" indent="-305435">
              <a:lnSpc>
                <a:spcPct val="111900"/>
              </a:lnSpc>
              <a:buClr>
                <a:srgbClr val="000000"/>
              </a:buClr>
              <a:buSzPct val="85714"/>
              <a:buFont typeface="Arial"/>
              <a:buChar char="○"/>
              <a:tabLst>
                <a:tab pos="1073150" algn="l"/>
              </a:tabLst>
            </a:pPr>
            <a:r>
              <a:rPr sz="1400" b="1" spc="10" dirty="0">
                <a:solidFill>
                  <a:srgbClr val="111111"/>
                </a:solidFill>
                <a:latin typeface="Arial"/>
                <a:cs typeface="Arial"/>
              </a:rPr>
              <a:t>Summarize</a:t>
            </a:r>
            <a:r>
              <a:rPr sz="1400" b="1" spc="-1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111111"/>
                </a:solidFill>
                <a:latin typeface="Arial"/>
                <a:cs typeface="Arial"/>
              </a:rPr>
              <a:t>Arguments</a:t>
            </a:r>
            <a:r>
              <a:rPr sz="1400" b="1" spc="-19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111111"/>
                </a:solidFill>
                <a:latin typeface="Arial"/>
                <a:cs typeface="Arial"/>
              </a:rPr>
              <a:t>or</a:t>
            </a:r>
            <a:r>
              <a:rPr sz="1400" b="1" spc="-10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spc="10" dirty="0">
                <a:solidFill>
                  <a:srgbClr val="111111"/>
                </a:solidFill>
                <a:latin typeface="Arial"/>
                <a:cs typeface="Arial"/>
              </a:rPr>
              <a:t>Findings</a:t>
            </a:r>
            <a:r>
              <a:rPr sz="1400" spc="1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r>
              <a:rPr sz="1400" spc="-16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11111"/>
                </a:solidFill>
                <a:latin typeface="Arial"/>
                <a:cs typeface="Arial"/>
              </a:rPr>
              <a:t>Briefly</a:t>
            </a:r>
            <a:r>
              <a:rPr sz="1400" spc="-10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11111"/>
                </a:solidFill>
                <a:latin typeface="Arial"/>
                <a:cs typeface="Arial"/>
              </a:rPr>
              <a:t>recap</a:t>
            </a:r>
            <a:r>
              <a:rPr sz="1400" spc="-11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sz="1400" spc="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11111"/>
                </a:solidFill>
                <a:latin typeface="Arial"/>
                <a:cs typeface="Arial"/>
              </a:rPr>
              <a:t>key</a:t>
            </a:r>
            <a:r>
              <a:rPr sz="1400" spc="6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arguments,</a:t>
            </a:r>
            <a:r>
              <a:rPr sz="1400" spc="-8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results,</a:t>
            </a:r>
            <a:r>
              <a:rPr sz="1400" spc="-9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10" dirty="0">
                <a:solidFill>
                  <a:srgbClr val="111111"/>
                </a:solidFill>
                <a:latin typeface="Arial"/>
                <a:cs typeface="Arial"/>
              </a:rPr>
              <a:t>or</a:t>
            </a:r>
            <a:r>
              <a:rPr sz="1400" spc="-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discoveries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presented</a:t>
            </a:r>
            <a:r>
              <a:rPr sz="1400" spc="-7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throughout</a:t>
            </a:r>
            <a:r>
              <a:rPr sz="1400" spc="-5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your</a:t>
            </a:r>
            <a:r>
              <a:rPr sz="1400" spc="4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paper.</a:t>
            </a:r>
            <a:endParaRPr sz="1400">
              <a:latin typeface="Arial"/>
              <a:cs typeface="Arial"/>
            </a:endParaRPr>
          </a:p>
          <a:p>
            <a:pPr marL="615315" indent="-305435">
              <a:lnSpc>
                <a:spcPct val="100000"/>
              </a:lnSpc>
              <a:spcBef>
                <a:spcPts val="275"/>
              </a:spcBef>
              <a:buClr>
                <a:srgbClr val="000000"/>
              </a:buClr>
              <a:buSzPct val="85714"/>
              <a:buAutoNum type="arabicPeriod"/>
              <a:tabLst>
                <a:tab pos="615315" algn="l"/>
              </a:tabLst>
            </a:pP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Key</a:t>
            </a:r>
            <a:r>
              <a:rPr sz="1400" b="1" spc="-7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Goals</a:t>
            </a:r>
            <a:r>
              <a:rPr sz="1400" b="1" spc="-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of</a:t>
            </a:r>
            <a:r>
              <a:rPr sz="1400" b="1" spc="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sz="1400" b="1" spc="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spc="-10" dirty="0">
                <a:solidFill>
                  <a:srgbClr val="111111"/>
                </a:solidFill>
                <a:latin typeface="Arial"/>
                <a:cs typeface="Arial"/>
              </a:rPr>
              <a:t>Conclusion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endParaRPr sz="1400">
              <a:latin typeface="Arial"/>
              <a:cs typeface="Arial"/>
            </a:endParaRPr>
          </a:p>
          <a:p>
            <a:pPr marL="1073150" marR="118745" lvl="1" indent="-305435">
              <a:lnSpc>
                <a:spcPct val="116199"/>
              </a:lnSpc>
              <a:spcBef>
                <a:spcPts val="1580"/>
              </a:spcBef>
              <a:buClr>
                <a:srgbClr val="000000"/>
              </a:buClr>
              <a:buSzPct val="85714"/>
              <a:buFont typeface="Arial"/>
              <a:buChar char="○"/>
              <a:tabLst>
                <a:tab pos="1073150" algn="l"/>
              </a:tabLst>
            </a:pP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Reinforce</a:t>
            </a:r>
            <a:r>
              <a:rPr sz="1400" b="1" spc="-9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sz="1400" b="1" spc="-9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Problem</a:t>
            </a:r>
            <a:r>
              <a:rPr sz="1400" b="1" spc="-12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b="1" dirty="0">
                <a:solidFill>
                  <a:srgbClr val="111111"/>
                </a:solidFill>
                <a:latin typeface="Arial"/>
                <a:cs typeface="Arial"/>
              </a:rPr>
              <a:t>Significance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:</a:t>
            </a:r>
            <a:r>
              <a:rPr sz="1400" spc="-15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Remind</a:t>
            </a:r>
            <a:r>
              <a:rPr sz="1400" spc="-8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readers</a:t>
            </a:r>
            <a:r>
              <a:rPr sz="1400" spc="-8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why</a:t>
            </a:r>
            <a:r>
              <a:rPr sz="1400" spc="9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the</a:t>
            </a:r>
            <a:r>
              <a:rPr sz="1400" spc="9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problem</a:t>
            </a:r>
            <a:r>
              <a:rPr sz="1400" spc="-114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matters</a:t>
            </a:r>
            <a:r>
              <a:rPr sz="1400" spc="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and</a:t>
            </a:r>
            <a:r>
              <a:rPr sz="1400" spc="9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why</a:t>
            </a:r>
            <a:r>
              <a:rPr sz="1400" spc="95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20" dirty="0">
                <a:solidFill>
                  <a:srgbClr val="111111"/>
                </a:solidFill>
                <a:latin typeface="Arial"/>
                <a:cs typeface="Arial"/>
              </a:rPr>
              <a:t>your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investigation</a:t>
            </a:r>
            <a:r>
              <a:rPr sz="1400" spc="-7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dirty="0">
                <a:solidFill>
                  <a:srgbClr val="111111"/>
                </a:solidFill>
                <a:latin typeface="Arial"/>
                <a:cs typeface="Arial"/>
              </a:rPr>
              <a:t>is</a:t>
            </a:r>
            <a:r>
              <a:rPr sz="1400" spc="-60" dirty="0">
                <a:solidFill>
                  <a:srgbClr val="111111"/>
                </a:solidFill>
                <a:latin typeface="Arial"/>
                <a:cs typeface="Arial"/>
              </a:rPr>
              <a:t> </a:t>
            </a:r>
            <a:r>
              <a:rPr sz="1400" spc="-10" dirty="0">
                <a:solidFill>
                  <a:srgbClr val="111111"/>
                </a:solidFill>
                <a:latin typeface="Arial"/>
                <a:cs typeface="Arial"/>
              </a:rPr>
              <a:t>relevant.</a:t>
            </a:r>
            <a:endParaRPr sz="1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7463" y="129857"/>
            <a:ext cx="726122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637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Next</a:t>
            </a:r>
            <a:r>
              <a:rPr sz="1800" spc="5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Gen</a:t>
            </a:r>
            <a:r>
              <a:rPr sz="1800" spc="-3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dirty="0">
                <a:solidFill>
                  <a:srgbClr val="FFFFFF"/>
                </a:solidFill>
                <a:latin typeface="Arial"/>
                <a:cs typeface="Arial"/>
              </a:rPr>
              <a:t>Employability</a:t>
            </a:r>
            <a:r>
              <a:rPr sz="18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Arial"/>
                <a:cs typeface="Arial"/>
              </a:rPr>
              <a:t>Program</a:t>
            </a:r>
            <a:endParaRPr sz="1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504946" y="2329433"/>
            <a:ext cx="2079625" cy="4838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000" b="1" dirty="0">
                <a:solidFill>
                  <a:srgbClr val="213366"/>
                </a:solidFill>
                <a:latin typeface="Arial"/>
                <a:cs typeface="Arial"/>
              </a:rPr>
              <a:t>Thank</a:t>
            </a:r>
            <a:r>
              <a:rPr sz="3000" b="1" spc="-65" dirty="0">
                <a:solidFill>
                  <a:srgbClr val="213366"/>
                </a:solidFill>
                <a:latin typeface="Arial"/>
                <a:cs typeface="Arial"/>
              </a:rPr>
              <a:t> </a:t>
            </a:r>
            <a:r>
              <a:rPr sz="3000" b="1" spc="-25" dirty="0">
                <a:solidFill>
                  <a:srgbClr val="213366"/>
                </a:solidFill>
                <a:latin typeface="Arial"/>
                <a:cs typeface="Arial"/>
              </a:rPr>
              <a:t>You!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</TotalTime>
  <Words>1108</Words>
  <Application>Microsoft Office PowerPoint</Application>
  <PresentationFormat>On-screen Show (16:9)</PresentationFormat>
  <Paragraphs>158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NEXT GEN EMPLOYABILITY PROGRAM</vt:lpstr>
      <vt:lpstr>CAPSTONE PROJECT SHOWCASE</vt:lpstr>
      <vt:lpstr>Next Gen Employability Program</vt:lpstr>
      <vt:lpstr>Next Gen Employability Program</vt:lpstr>
      <vt:lpstr>Next Gen Employability Program</vt:lpstr>
      <vt:lpstr>Next Gen Employability Program</vt:lpstr>
      <vt:lpstr>Next Gen Employability Program</vt:lpstr>
      <vt:lpstr>Next Gen Employability Program</vt:lpstr>
      <vt:lpstr>Slide 9</vt:lpstr>
      <vt:lpstr>Next Gen Employability Program</vt:lpstr>
      <vt:lpstr>Homepage</vt:lpstr>
      <vt:lpstr>Slide 12</vt:lpstr>
      <vt:lpstr>Slide 13</vt:lpstr>
      <vt:lpstr>Slide 14</vt:lpstr>
      <vt:lpstr>Slide 15</vt:lpstr>
      <vt:lpstr>Next Gen Employability Program</vt:lpstr>
      <vt:lpstr>Next Gen Employability Program</vt:lpstr>
      <vt:lpstr>Thank You!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NEXT GEN EMPLOYABILITY PROGRAM</dc:title>
  <dc:creator>Monisha</dc:creator>
  <cp:lastModifiedBy>Monisha</cp:lastModifiedBy>
  <cp:revision>4</cp:revision>
  <dcterms:created xsi:type="dcterms:W3CDTF">2024-04-08T12:29:02Z</dcterms:created>
  <dcterms:modified xsi:type="dcterms:W3CDTF">2024-04-08T14:28:36Z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2024-04-08T00:00:00Z</vt:filetime>
  </property>
  <property fmtid="{D5CDD505-2E9C-101B-9397-08002B2CF9AE}" pid="3" name="LastSaved">
    <vt:filetime>2024-04-08T00:00:00Z</vt:filetime>
  </property>
  <property fmtid="{D5CDD505-2E9C-101B-9397-08002B2CF9AE}" pid="4" name="Producer">
    <vt:lpwstr>3-Heights(TM) PDF Security Shell 4.8.25.2 (http://www.pdf-tools.com)</vt:lpwstr>
  </property>
</Properties>
</file>